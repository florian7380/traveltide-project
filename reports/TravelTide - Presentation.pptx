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70" r:id="rId9"/>
    <p:sldId id="271" r:id="rId10"/>
    <p:sldId id="272" r:id="rId11"/>
    <p:sldId id="273" r:id="rId12"/>
    <p:sldId id="262" r:id="rId13"/>
    <p:sldId id="263" r:id="rId14"/>
    <p:sldId id="264" r:id="rId15"/>
    <p:sldId id="275" r:id="rId16"/>
    <p:sldId id="265" r:id="rId17"/>
    <p:sldId id="266" r:id="rId18"/>
    <p:sldId id="267" r:id="rId19"/>
    <p:sldId id="276" r:id="rId20"/>
    <p:sldId id="268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DC6BAC-00F5-491E-EDE4-C297F172C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B5F6F7D-CDAD-D176-B4AB-399CF0018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E0D220B-9D10-A16A-393C-22A1DA069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4F183-C8C9-4BDF-BAE3-133FA9C16031}" type="datetimeFigureOut">
              <a:rPr lang="de-DE" smtClean="0"/>
              <a:t>10.11.2025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392B9D-437D-1D35-8A15-FE209D47D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E03D474-A76F-9993-A8AC-1C3E34AB9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6CCBA-3045-42E5-BE08-650F206C5B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6774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01F748-D936-3632-B950-362071F7E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2A7F75-3CEF-F887-C24F-A6535A27F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601DF7-6E7D-CE05-5932-F0C96ED08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4F183-C8C9-4BDF-BAE3-133FA9C16031}" type="datetimeFigureOut">
              <a:rPr lang="de-DE" smtClean="0"/>
              <a:t>10.11.2025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031C3C-CAEB-7638-E6B0-9A65591D4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547E98-7D0C-0539-16F2-7825D0C2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6CCBA-3045-42E5-BE08-650F206C5B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9344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18D9B8-4DA4-D7E3-C8C6-C9F53A360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39E65E6-65DE-3051-39CE-D098E83F10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FF4831B-4408-450B-6ED7-E1B4433D6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4F183-C8C9-4BDF-BAE3-133FA9C16031}" type="datetimeFigureOut">
              <a:rPr lang="de-DE" smtClean="0"/>
              <a:t>10.11.2025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758AAA0-985C-BE9D-2DCF-EF3FCDA74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F7F7612-C138-63EE-3E3F-051AE7D7A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6CCBA-3045-42E5-BE08-650F206C5B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779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F1771D-A6FD-9121-21FE-04E506026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A27929A-4646-197F-04EC-35D8C019F8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FDC359A-D136-678C-83BB-05FB5A8268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416B09E-2796-18AF-616E-F012F87FB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4F183-C8C9-4BDF-BAE3-133FA9C16031}" type="datetimeFigureOut">
              <a:rPr lang="de-DE" smtClean="0"/>
              <a:t>10.11.2025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6530BA3-EFD8-23FD-C826-C855EFF87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1713375-DDC1-BD42-5EE8-5C34605E1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6CCBA-3045-42E5-BE08-650F206C5B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065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9D4C23-4625-1AFB-DDB3-ED87D590A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E29D16E-3566-CBA0-4078-BB68AB629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7C0599B-93F8-A4E3-C3D7-17755DDA69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7E077BC-BBEC-7BEF-8249-60A690B21F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82BE8A0-A050-9F36-A4AE-1EB13CF5CF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03A8E7F-F6FF-8BB5-5A86-FB9CB39A3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4F183-C8C9-4BDF-BAE3-133FA9C16031}" type="datetimeFigureOut">
              <a:rPr lang="de-DE" smtClean="0"/>
              <a:t>10.11.2025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EC54F08-F2DF-D8CA-506E-D7E53C4B7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89F2D2E-98A7-98AE-5A33-E40063BCE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6CCBA-3045-42E5-BE08-650F206C5B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4241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63C58-061F-2428-11C1-7CB880A9B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562A1A9-4F63-F4C8-3D20-D565AFA55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4F183-C8C9-4BDF-BAE3-133FA9C16031}" type="datetimeFigureOut">
              <a:rPr lang="de-DE" smtClean="0"/>
              <a:t>10.11.2025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BF2BAE8-CF24-4A6D-13B0-CE843A22C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23EB929-BBAC-77F9-B1A7-0C42783C8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6CCBA-3045-42E5-BE08-650F206C5B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4572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2D63C7-2019-592D-C7D9-2A345074F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4F183-C8C9-4BDF-BAE3-133FA9C16031}" type="datetimeFigureOut">
              <a:rPr lang="de-DE" smtClean="0"/>
              <a:t>10.11.2025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EA05149-2D2F-F2F4-7AA4-21255B5C9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938E96-75BE-3DFC-013B-914E62FC5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6CCBA-3045-42E5-BE08-650F206C5B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28552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DE781B-D27C-32F8-9E37-02FF06035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7DC0ED-87BE-2B16-13CE-B92E886DAC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B696A5C-6DDA-03EA-C774-978C88BDF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279D818-131F-F7B9-250B-17551343E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4F183-C8C9-4BDF-BAE3-133FA9C16031}" type="datetimeFigureOut">
              <a:rPr lang="de-DE" smtClean="0"/>
              <a:t>10.11.2025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05F04B-B760-3153-4A59-1373F4157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E5AF6CA-F9F0-7E11-758A-AE0FDC549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6CCBA-3045-42E5-BE08-650F206C5B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5958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46141D-F6CB-61A0-7ED0-356DA7BF2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6298CCF-7E5B-F97E-BBF7-DF5FBA3E0E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C750E4C-6F7A-B9E5-F11E-51DE80C4F1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569E2DB-42EB-4844-9606-47329459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4F183-C8C9-4BDF-BAE3-133FA9C16031}" type="datetimeFigureOut">
              <a:rPr lang="de-DE" smtClean="0"/>
              <a:t>10.11.2025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033E003-CFF3-47B9-C2B6-91EB187B7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ADE10A4-EFF5-A8CB-E376-8C4DCD273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6CCBA-3045-42E5-BE08-650F206C5B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27969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513118-D709-3803-F93E-BAF1E77DB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DD320F-69EA-8310-C033-B085EE414B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8460A3D-61AA-AE31-74AC-CE4A69888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4F183-C8C9-4BDF-BAE3-133FA9C16031}" type="datetimeFigureOut">
              <a:rPr lang="de-DE" smtClean="0"/>
              <a:t>10.11.2025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8C431A-F3A9-F0AB-AEA3-74850E908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856471-344E-7F50-4B0B-339BBE39C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6CCBA-3045-42E5-BE08-650F206C5B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2371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FDB9C22-3B7E-97C7-41C2-DCCB3822AE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62721CE-D21B-E6B5-06FF-131F856013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179FBE2-CEF0-CEE3-AFD3-BBE34E555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4F183-C8C9-4BDF-BAE3-133FA9C16031}" type="datetimeFigureOut">
              <a:rPr lang="de-DE" smtClean="0"/>
              <a:t>10.11.2025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8E2EDA-A15D-3BF8-A517-6B70DED8F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F01796-25B8-6424-81BF-AA4FA26D8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6CCBA-3045-42E5-BE08-650F206C5B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3024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04D4F57-B4F0-25A3-9421-D74D93BB6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CC21A51-C099-0DC4-C271-F584F214F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FAF6DE-506A-4CEC-8C87-8920F95432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84F183-C8C9-4BDF-BAE3-133FA9C16031}" type="datetimeFigureOut">
              <a:rPr lang="de-DE" smtClean="0"/>
              <a:t>10.11.2025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BBA34EE-BBE9-5EBC-1EF4-7C6BDF8634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FD443F-EB49-9A8E-83AE-5210AA00D1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C6CCBA-3045-42E5-BE08-650F206C5B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301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D09133-A55F-FA15-57C3-CD0ECB80A8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 err="1"/>
              <a:t>TravelTide</a:t>
            </a:r>
            <a:r>
              <a:rPr lang="en-US" noProof="0" dirty="0"/>
              <a:t> </a:t>
            </a:r>
            <a:br>
              <a:rPr lang="en-US" noProof="0" dirty="0"/>
            </a:br>
            <a:r>
              <a:rPr lang="en-US" noProof="0" dirty="0"/>
              <a:t>Customer Retention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A41EABE-B0F0-9DB1-402C-360543DC7D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Creating Customer Segmentation to align with Perks</a:t>
            </a:r>
          </a:p>
        </p:txBody>
      </p:sp>
    </p:spTree>
    <p:extLst>
      <p:ext uri="{BB962C8B-B14F-4D97-AF65-F5344CB8AC3E}">
        <p14:creationId xmlns:p14="http://schemas.microsoft.com/office/powerpoint/2010/main" val="589208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43FF9C-7509-472E-ABAF-C42326C7B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FDCA0D-F74D-98AC-C27F-F147FEA5B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TravelTide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Task &amp; Data </a:t>
            </a:r>
            <a:r>
              <a:rPr lang="de-DE" dirty="0" err="1"/>
              <a:t>Foundation</a:t>
            </a:r>
            <a:endParaRPr lang="de-DE" dirty="0"/>
          </a:p>
          <a:p>
            <a:pPr marL="971550" lvl="1" indent="-514350">
              <a:buFont typeface="+mj-lt"/>
              <a:buAutoNum type="arabicPeriod"/>
            </a:pPr>
            <a:r>
              <a:rPr lang="de-DE" dirty="0" err="1"/>
              <a:t>TravelTide</a:t>
            </a:r>
            <a:r>
              <a:rPr lang="de-DE" dirty="0"/>
              <a:t> and </a:t>
            </a:r>
            <a:r>
              <a:rPr lang="de-DE" dirty="0" err="1"/>
              <a:t>the</a:t>
            </a:r>
            <a:r>
              <a:rPr lang="de-DE" dirty="0"/>
              <a:t> Task</a:t>
            </a:r>
          </a:p>
          <a:p>
            <a:pPr marL="971550" lvl="1" indent="-514350">
              <a:buFont typeface="+mj-lt"/>
              <a:buAutoNum type="arabicPeriod"/>
            </a:pPr>
            <a:r>
              <a:rPr lang="de-DE" dirty="0" err="1"/>
              <a:t>TravelTide‘s</a:t>
            </a:r>
            <a:r>
              <a:rPr lang="de-DE" dirty="0"/>
              <a:t> Data</a:t>
            </a:r>
          </a:p>
          <a:p>
            <a:pPr marL="971550" lvl="1" indent="-514350">
              <a:buFont typeface="+mj-lt"/>
              <a:buAutoNum type="arabicPeriod"/>
            </a:pPr>
            <a:r>
              <a:rPr lang="de-DE" dirty="0"/>
              <a:t>First </a:t>
            </a:r>
            <a:r>
              <a:rPr lang="de-DE" dirty="0" err="1"/>
              <a:t>Steps</a:t>
            </a:r>
            <a:r>
              <a:rPr lang="de-DE" dirty="0"/>
              <a:t> – </a:t>
            </a:r>
            <a:r>
              <a:rPr lang="de-DE" dirty="0" err="1"/>
              <a:t>Cleaning</a:t>
            </a:r>
            <a:r>
              <a:rPr lang="de-DE" dirty="0"/>
              <a:t> and </a:t>
            </a:r>
            <a:r>
              <a:rPr lang="de-DE" dirty="0" err="1"/>
              <a:t>Aggregating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Business </a:t>
            </a:r>
            <a:r>
              <a:rPr lang="de-DE" dirty="0" err="1"/>
              <a:t>Insights</a:t>
            </a:r>
            <a:endParaRPr lang="de-DE" dirty="0"/>
          </a:p>
          <a:p>
            <a:pPr marL="971550" lvl="1" indent="-514350">
              <a:buFont typeface="+mj-lt"/>
              <a:buAutoNum type="arabicPeriod"/>
            </a:pPr>
            <a:r>
              <a:rPr lang="de-DE" dirty="0" err="1"/>
              <a:t>Distributions</a:t>
            </a:r>
            <a:endParaRPr lang="de-DE" dirty="0"/>
          </a:p>
          <a:p>
            <a:pPr marL="971550" lvl="1" indent="-514350">
              <a:buFont typeface="+mj-lt"/>
              <a:buAutoNum type="arabicPeriod"/>
            </a:pPr>
            <a:r>
              <a:rPr lang="de-DE" dirty="0" err="1"/>
              <a:t>Percentages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qualitative Values</a:t>
            </a:r>
          </a:p>
          <a:p>
            <a:pPr marL="971550" lvl="1" indent="-514350">
              <a:buFont typeface="+mj-lt"/>
              <a:buAutoNum type="arabicPeriod"/>
            </a:pPr>
            <a:r>
              <a:rPr lang="de-DE" dirty="0" err="1"/>
              <a:t>Correlations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Segments &amp; </a:t>
            </a:r>
            <a:r>
              <a:rPr lang="de-DE" dirty="0" err="1"/>
              <a:t>Perks</a:t>
            </a:r>
            <a:endParaRPr lang="de-DE" dirty="0"/>
          </a:p>
          <a:p>
            <a:pPr marL="971550" lvl="1" indent="-514350">
              <a:buFont typeface="+mj-lt"/>
              <a:buAutoNum type="arabicPeriod"/>
            </a:pPr>
            <a:r>
              <a:rPr lang="de-DE" dirty="0"/>
              <a:t>RFM Personas</a:t>
            </a:r>
          </a:p>
          <a:p>
            <a:pPr marL="971550" lvl="1" indent="-514350">
              <a:buFont typeface="+mj-lt"/>
              <a:buAutoNum type="arabicPeriod"/>
            </a:pPr>
            <a:r>
              <a:rPr lang="de-DE" dirty="0"/>
              <a:t>Customer Personas</a:t>
            </a:r>
          </a:p>
          <a:p>
            <a:pPr marL="971550" lvl="1" indent="-514350">
              <a:buFont typeface="+mj-lt"/>
              <a:buAutoNum type="arabicPeriod"/>
            </a:pPr>
            <a:r>
              <a:rPr lang="de-DE" dirty="0"/>
              <a:t>ML-Clustering</a:t>
            </a:r>
          </a:p>
          <a:p>
            <a:pPr marL="971550" lvl="1" indent="-514350">
              <a:buFont typeface="+mj-lt"/>
              <a:buAutoNum type="arabicPeriod"/>
            </a:pPr>
            <a:r>
              <a:rPr lang="de-DE" dirty="0" err="1"/>
              <a:t>Perks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Recommended </a:t>
            </a:r>
            <a:r>
              <a:rPr lang="de-DE" dirty="0" err="1"/>
              <a:t>next</a:t>
            </a:r>
            <a:r>
              <a:rPr lang="de-DE" dirty="0"/>
              <a:t> </a:t>
            </a:r>
            <a:r>
              <a:rPr lang="de-DE" dirty="0" err="1"/>
              <a:t>Steps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4769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2AC86F-E329-DC4B-CC82-F7D6E06FD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noProof="0" dirty="0"/>
              <a:t>1.1. </a:t>
            </a:r>
            <a:r>
              <a:rPr lang="en-US" noProof="0" dirty="0" err="1"/>
              <a:t>TravelTide</a:t>
            </a:r>
            <a:r>
              <a:rPr lang="en-US" noProof="0" dirty="0"/>
              <a:t> and the Task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596374-3AC5-5EE9-46A8-6665BBA09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Offers different AI powered planning helpers: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Travel Itinerary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Travel Plan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Travel Deals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Travel Guide</a:t>
            </a:r>
          </a:p>
          <a:p>
            <a:r>
              <a:rPr lang="en-US" noProof="0" dirty="0"/>
              <a:t>Leaves the choice of booking to the customer</a:t>
            </a:r>
          </a:p>
          <a:p>
            <a:r>
              <a:rPr lang="en-US" noProof="0" dirty="0"/>
              <a:t>Works on large data bases</a:t>
            </a:r>
          </a:p>
          <a:p>
            <a:r>
              <a:rPr lang="en-US" noProof="0" dirty="0"/>
              <a:t>The task: Face customer retention by segmentizing  customers and find fitting perks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83651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D79D75-FFA1-B694-E319-1BACAE2BB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de-DE" dirty="0"/>
              <a:t>1.2. </a:t>
            </a:r>
            <a:r>
              <a:rPr lang="de-DE" dirty="0" err="1"/>
              <a:t>TravelTides</a:t>
            </a:r>
            <a:r>
              <a:rPr lang="de-DE" dirty="0"/>
              <a:t> Data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DE8934F9-1148-6DE3-44AF-BFE6A1E524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404" y="1032113"/>
            <a:ext cx="9783192" cy="5727733"/>
          </a:xfrm>
        </p:spPr>
      </p:pic>
    </p:spTree>
    <p:extLst>
      <p:ext uri="{BB962C8B-B14F-4D97-AF65-F5344CB8AC3E}">
        <p14:creationId xmlns:p14="http://schemas.microsoft.com/office/powerpoint/2010/main" val="2043117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82435D-48B3-2115-E106-B14256E78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noProof="0" dirty="0"/>
              <a:t>1.3. First Steps - Cleaning and Aggregating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F122466-4048-00EE-77A0-5BCD2C7DA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entries with </a:t>
            </a:r>
            <a:r>
              <a:rPr lang="en-US" noProof="0" dirty="0" err="1"/>
              <a:t>negativ</a:t>
            </a:r>
            <a:r>
              <a:rPr lang="en-US" noProof="0" dirty="0"/>
              <a:t> count of nights as well as negative time delta between check in and check out times got deleted</a:t>
            </a:r>
          </a:p>
          <a:p>
            <a:r>
              <a:rPr lang="en-US" noProof="0" dirty="0"/>
              <a:t>An aggregation for users is suitable due to the focus on customers</a:t>
            </a:r>
          </a:p>
          <a:p>
            <a:r>
              <a:rPr lang="en-US" noProof="0" dirty="0"/>
              <a:t>Filtering users with more than 7 sessions since April 2023</a:t>
            </a:r>
          </a:p>
          <a:p>
            <a:r>
              <a:rPr lang="en-US" noProof="0" dirty="0"/>
              <a:t>New calculated features: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noProof="0" dirty="0"/>
              <a:t>Average distance flown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noProof="0" dirty="0"/>
              <a:t>Age 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noProof="0" dirty="0"/>
              <a:t>Percent of flight without hotel bookings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noProof="0" dirty="0"/>
              <a:t>Percent of hotel without flight bookings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8484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3A1FE7-7AD2-68A4-01B6-40432FB4D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de-DE" dirty="0"/>
              <a:t>2.1. </a:t>
            </a:r>
            <a:r>
              <a:rPr lang="de-DE" dirty="0" err="1"/>
              <a:t>Distributions</a:t>
            </a:r>
            <a:r>
              <a:rPr lang="de-DE" dirty="0"/>
              <a:t> - </a:t>
            </a:r>
            <a:r>
              <a:rPr lang="de-DE" dirty="0" err="1"/>
              <a:t>Clicks</a:t>
            </a:r>
            <a:endParaRPr lang="de-DE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2EC39D0-9F89-7ED7-1E03-AE41C0A115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47847"/>
            <a:ext cx="12192000" cy="5706894"/>
          </a:xfrm>
        </p:spPr>
      </p:pic>
    </p:spTree>
    <p:extLst>
      <p:ext uri="{BB962C8B-B14F-4D97-AF65-F5344CB8AC3E}">
        <p14:creationId xmlns:p14="http://schemas.microsoft.com/office/powerpoint/2010/main" val="1031539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E79EE-B7E1-F958-19CC-354A05D46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9E324C-1EB9-0AE5-9677-B78E519F8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de-DE" dirty="0"/>
              <a:t>2.1. </a:t>
            </a:r>
            <a:r>
              <a:rPr lang="de-DE" dirty="0" err="1"/>
              <a:t>Distributions</a:t>
            </a:r>
            <a:r>
              <a:rPr lang="de-DE" dirty="0"/>
              <a:t> - </a:t>
            </a:r>
            <a:r>
              <a:rPr lang="de-DE" dirty="0" err="1"/>
              <a:t>Clicks</a:t>
            </a:r>
            <a:endParaRPr lang="de-DE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8D7BFF5-4ACC-18D8-E5A6-65623FDFF5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47847"/>
            <a:ext cx="12192000" cy="5706894"/>
          </a:xfrm>
        </p:spPr>
      </p:pic>
    </p:spTree>
    <p:extLst>
      <p:ext uri="{BB962C8B-B14F-4D97-AF65-F5344CB8AC3E}">
        <p14:creationId xmlns:p14="http://schemas.microsoft.com/office/powerpoint/2010/main" val="2081095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22103-8D5F-2D05-9DF6-0B116B513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88478B-F13E-2EC6-7447-AEA01C602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de-DE" dirty="0"/>
              <a:t>2.1. </a:t>
            </a:r>
            <a:r>
              <a:rPr lang="de-DE" dirty="0" err="1"/>
              <a:t>Distributions</a:t>
            </a:r>
            <a:r>
              <a:rPr lang="de-DE" dirty="0"/>
              <a:t> - Trips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4DD25F6-53CF-8C41-059B-058AE4C79F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51106"/>
            <a:ext cx="12192000" cy="5706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4263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C0667-84E0-FC14-673C-DB13E11D1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69E808-0B71-F78C-D06C-9A93E4D20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de-DE" dirty="0"/>
              <a:t>2.1. </a:t>
            </a:r>
            <a:r>
              <a:rPr lang="de-DE" dirty="0" err="1"/>
              <a:t>Distributions</a:t>
            </a:r>
            <a:r>
              <a:rPr lang="de-DE" dirty="0"/>
              <a:t> - Age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5E77D8C-5D78-3415-B776-7C1E3FF186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51106"/>
            <a:ext cx="12192000" cy="5706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983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B08-8C94-C235-CF81-D921D60C3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A78D05-0B90-D4A2-30BD-8D1FCD1F4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de-DE" dirty="0"/>
              <a:t>2.1. </a:t>
            </a:r>
            <a:r>
              <a:rPr lang="de-DE" dirty="0" err="1"/>
              <a:t>Distributions</a:t>
            </a:r>
            <a:r>
              <a:rPr lang="de-DE" dirty="0"/>
              <a:t> - Flight </a:t>
            </a:r>
            <a:r>
              <a:rPr lang="de-DE" dirty="0" err="1"/>
              <a:t>Distance</a:t>
            </a:r>
            <a:endParaRPr lang="de-DE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308ECB3A-C2FE-370B-83BE-FC224BBC0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51106"/>
            <a:ext cx="12192000" cy="5706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569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0FD5D-D1C6-E03B-525D-5DC012D9F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C229C6-9C18-915A-19BF-D44B61428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de-DE" dirty="0"/>
              <a:t>2.1. </a:t>
            </a:r>
            <a:r>
              <a:rPr lang="de-DE" dirty="0" err="1"/>
              <a:t>Distributions</a:t>
            </a:r>
            <a:r>
              <a:rPr lang="de-DE" dirty="0"/>
              <a:t> - Time </a:t>
            </a:r>
            <a:r>
              <a:rPr lang="de-DE" dirty="0" err="1"/>
              <a:t>to</a:t>
            </a:r>
            <a:r>
              <a:rPr lang="de-DE" dirty="0"/>
              <a:t> Flight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284BC1F-255F-9580-8D2D-D6728BE13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25563"/>
            <a:ext cx="12192000" cy="5706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9395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406883-C344-9A4C-5AA6-D1499193A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de-DE" dirty="0"/>
              <a:t>2.2. </a:t>
            </a:r>
            <a:r>
              <a:rPr lang="de-DE" dirty="0" err="1"/>
              <a:t>Percentages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Qualitative Values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C050865B-D84E-E3E8-AD61-BE7A46730E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32851"/>
            <a:ext cx="12192000" cy="5706894"/>
          </a:xfrm>
        </p:spPr>
      </p:pic>
    </p:spTree>
    <p:extLst>
      <p:ext uri="{BB962C8B-B14F-4D97-AF65-F5344CB8AC3E}">
        <p14:creationId xmlns:p14="http://schemas.microsoft.com/office/powerpoint/2010/main" val="1585660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CD185F-AE11-0C84-2A5A-A15A81CD3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de-DE" dirty="0"/>
              <a:t>2.3. </a:t>
            </a:r>
            <a:r>
              <a:rPr lang="de-DE" dirty="0" err="1"/>
              <a:t>Correlations</a:t>
            </a:r>
            <a:endParaRPr lang="de-DE" dirty="0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5E89F008-57F8-B2DA-AE71-B6A35A1EC3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141244"/>
              </p:ext>
            </p:extLst>
          </p:nvPr>
        </p:nvGraphicFramePr>
        <p:xfrm>
          <a:off x="1451573" y="1861838"/>
          <a:ext cx="9288854" cy="3711598"/>
        </p:xfrm>
        <a:graphic>
          <a:graphicData uri="http://schemas.openxmlformats.org/drawingml/2006/table">
            <a:tbl>
              <a:tblPr/>
              <a:tblGrid>
                <a:gridCol w="1803661">
                  <a:extLst>
                    <a:ext uri="{9D8B030D-6E8A-4147-A177-3AD203B41FA5}">
                      <a16:colId xmlns:a16="http://schemas.microsoft.com/office/drawing/2014/main" val="2403708986"/>
                    </a:ext>
                  </a:extLst>
                </a:gridCol>
                <a:gridCol w="5465093">
                  <a:extLst>
                    <a:ext uri="{9D8B030D-6E8A-4147-A177-3AD203B41FA5}">
                      <a16:colId xmlns:a16="http://schemas.microsoft.com/office/drawing/2014/main" val="3506202544"/>
                    </a:ext>
                  </a:extLst>
                </a:gridCol>
                <a:gridCol w="2020100">
                  <a:extLst>
                    <a:ext uri="{9D8B030D-6E8A-4147-A177-3AD203B41FA5}">
                      <a16:colId xmlns:a16="http://schemas.microsoft.com/office/drawing/2014/main" val="860631345"/>
                    </a:ext>
                  </a:extLst>
                </a:gridCol>
              </a:tblGrid>
              <a:tr h="15302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de-DE" sz="2000" b="1" dirty="0">
                          <a:effectLst/>
                        </a:rPr>
                        <a:t>Rank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de-DE" sz="2000" b="1">
                          <a:effectLst/>
                        </a:rPr>
                        <a:t>Column_Pair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de-DE" sz="2000" b="1">
                          <a:effectLst/>
                        </a:rPr>
                        <a:t>absolute r_value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529380"/>
                  </a:ext>
                </a:extLst>
              </a:tr>
              <a:tr h="814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de-DE" sz="2000" dirty="0">
                          <a:effectLst/>
                        </a:rPr>
                        <a:t>1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it-IT" sz="2000">
                          <a:effectLst/>
                        </a:rPr>
                        <a:t>base_fare_usd vs rooms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de-DE" sz="2000">
                          <a:effectLst/>
                        </a:rPr>
                        <a:t>0.368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7B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157422"/>
                  </a:ext>
                </a:extLst>
              </a:tr>
              <a:tr h="814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de-DE" sz="2000">
                          <a:effectLst/>
                        </a:rPr>
                        <a:t>2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2000">
                          <a:effectLst/>
                        </a:rPr>
                        <a:t>base_fare_usd vs nights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de-DE" sz="2000">
                          <a:effectLst/>
                        </a:rPr>
                        <a:t>0.206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C9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175464"/>
                  </a:ext>
                </a:extLst>
              </a:tr>
              <a:tr h="15302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de-DE" sz="2000">
                          <a:effectLst/>
                        </a:rPr>
                        <a:t>3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2000" dirty="0" err="1">
                          <a:effectLst/>
                        </a:rPr>
                        <a:t>checked_bags</a:t>
                      </a:r>
                      <a:r>
                        <a:rPr lang="de-DE" sz="2000" dirty="0">
                          <a:effectLst/>
                        </a:rPr>
                        <a:t> </a:t>
                      </a:r>
                      <a:r>
                        <a:rPr lang="de-DE" sz="2000" dirty="0" err="1">
                          <a:effectLst/>
                        </a:rPr>
                        <a:t>vs</a:t>
                      </a:r>
                      <a:r>
                        <a:rPr lang="de-DE" sz="2000" dirty="0">
                          <a:effectLst/>
                        </a:rPr>
                        <a:t> </a:t>
                      </a:r>
                      <a:r>
                        <a:rPr lang="de-DE" sz="2000" dirty="0" err="1">
                          <a:effectLst/>
                        </a:rPr>
                        <a:t>base_fare_usd</a:t>
                      </a:r>
                      <a:endParaRPr lang="de-DE" sz="2000" dirty="0">
                        <a:effectLst/>
                      </a:endParaRP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de-DE" sz="2000">
                          <a:effectLst/>
                        </a:rPr>
                        <a:t>0.189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B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0421812"/>
                  </a:ext>
                </a:extLst>
              </a:tr>
              <a:tr h="814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de-DE" sz="2000">
                          <a:effectLst/>
                        </a:rPr>
                        <a:t>4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2000">
                          <a:effectLst/>
                        </a:rPr>
                        <a:t>checked_bags vs rooms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de-DE" sz="2000">
                          <a:effectLst/>
                        </a:rPr>
                        <a:t>0.096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2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9607079"/>
                  </a:ext>
                </a:extLst>
              </a:tr>
              <a:tr h="814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de-DE" sz="2000">
                          <a:effectLst/>
                        </a:rPr>
                        <a:t>5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2000" dirty="0" err="1">
                          <a:effectLst/>
                        </a:rPr>
                        <a:t>checked_bags</a:t>
                      </a:r>
                      <a:r>
                        <a:rPr lang="de-DE" sz="2000" dirty="0">
                          <a:effectLst/>
                        </a:rPr>
                        <a:t> </a:t>
                      </a:r>
                      <a:r>
                        <a:rPr lang="de-DE" sz="2000" dirty="0" err="1">
                          <a:effectLst/>
                        </a:rPr>
                        <a:t>vs</a:t>
                      </a:r>
                      <a:r>
                        <a:rPr lang="de-DE" sz="2000" dirty="0">
                          <a:effectLst/>
                        </a:rPr>
                        <a:t> </a:t>
                      </a:r>
                      <a:r>
                        <a:rPr lang="de-DE" sz="2000" dirty="0" err="1">
                          <a:effectLst/>
                        </a:rPr>
                        <a:t>nights</a:t>
                      </a:r>
                      <a:endParaRPr lang="de-DE" sz="2000" dirty="0">
                        <a:effectLst/>
                      </a:endParaRP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de-DE" sz="2000">
                          <a:effectLst/>
                        </a:rPr>
                        <a:t>0.068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5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5702297"/>
                  </a:ext>
                </a:extLst>
              </a:tr>
              <a:tr h="814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de-DE" sz="2000">
                          <a:effectLst/>
                        </a:rPr>
                        <a:t>6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it-IT" sz="2000">
                          <a:effectLst/>
                        </a:rPr>
                        <a:t>page_clicks vs base_fare_usd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de-DE" sz="2000">
                          <a:effectLst/>
                        </a:rPr>
                        <a:t>0.026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B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9146776"/>
                  </a:ext>
                </a:extLst>
              </a:tr>
              <a:tr h="224571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de-DE" sz="2000">
                          <a:effectLst/>
                        </a:rPr>
                        <a:t>7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2000" dirty="0">
                          <a:effectLst/>
                        </a:rPr>
                        <a:t>rooms vs </a:t>
                      </a:r>
                      <a:r>
                        <a:rPr lang="en-US" sz="2000" dirty="0" err="1">
                          <a:effectLst/>
                        </a:rPr>
                        <a:t>hotel_price_per_room_night_usd</a:t>
                      </a:r>
                      <a:endParaRPr lang="en-US" sz="2000" dirty="0">
                        <a:effectLst/>
                      </a:endParaRP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de-DE" sz="2000">
                          <a:effectLst/>
                        </a:rPr>
                        <a:t>0.016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070732"/>
                  </a:ext>
                </a:extLst>
              </a:tr>
              <a:tr h="15302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de-DE" sz="2000">
                          <a:effectLst/>
                        </a:rPr>
                        <a:t>8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2000" dirty="0" err="1">
                          <a:effectLst/>
                        </a:rPr>
                        <a:t>flight_discount_amount</a:t>
                      </a:r>
                      <a:r>
                        <a:rPr lang="en-US" sz="2000" dirty="0">
                          <a:effectLst/>
                        </a:rPr>
                        <a:t> vs </a:t>
                      </a:r>
                      <a:r>
                        <a:rPr lang="en-US" sz="2000" dirty="0" err="1">
                          <a:effectLst/>
                        </a:rPr>
                        <a:t>hotel_discount_amount</a:t>
                      </a:r>
                      <a:endParaRPr lang="en-US" sz="2000" dirty="0">
                        <a:effectLst/>
                      </a:endParaRP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de-DE" sz="2000">
                          <a:effectLst/>
                        </a:rPr>
                        <a:t>0.015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A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9637332"/>
                  </a:ext>
                </a:extLst>
              </a:tr>
              <a:tr h="15302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de-DE" sz="2000">
                          <a:effectLst/>
                        </a:rPr>
                        <a:t>9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2000">
                          <a:effectLst/>
                        </a:rPr>
                        <a:t>hotel_discount_amount vs checked_bags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de-DE" sz="2000">
                          <a:effectLst/>
                        </a:rPr>
                        <a:t>0.015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A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07840"/>
                  </a:ext>
                </a:extLst>
              </a:tr>
              <a:tr h="814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de-DE" sz="2000">
                          <a:effectLst/>
                        </a:rPr>
                        <a:t>10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2000" dirty="0" err="1">
                          <a:effectLst/>
                        </a:rPr>
                        <a:t>page_clicks</a:t>
                      </a:r>
                      <a:r>
                        <a:rPr lang="de-DE" sz="2000" dirty="0">
                          <a:effectLst/>
                        </a:rPr>
                        <a:t> </a:t>
                      </a:r>
                      <a:r>
                        <a:rPr lang="de-DE" sz="2000" dirty="0" err="1">
                          <a:effectLst/>
                        </a:rPr>
                        <a:t>vs</a:t>
                      </a:r>
                      <a:r>
                        <a:rPr lang="de-DE" sz="2000" dirty="0">
                          <a:effectLst/>
                        </a:rPr>
                        <a:t> </a:t>
                      </a:r>
                      <a:r>
                        <a:rPr lang="de-DE" sz="2000" dirty="0" err="1">
                          <a:effectLst/>
                        </a:rPr>
                        <a:t>nights</a:t>
                      </a:r>
                      <a:endParaRPr lang="de-DE" sz="2000" dirty="0">
                        <a:effectLst/>
                      </a:endParaRP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de-DE" sz="2000" dirty="0">
                          <a:effectLst/>
                        </a:rPr>
                        <a:t>0.014</a:t>
                      </a:r>
                    </a:p>
                  </a:txBody>
                  <a:tcPr marL="24464" marR="24464" marT="16309" marB="1630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AC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83136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6509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1A96B3-C71D-4B0F-ECFD-151F87B67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de-DE" dirty="0"/>
              <a:t>3.1. ML-Clustering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F14C3FA-BEA2-08BC-34C1-E24F6AC1A5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9072" y="918030"/>
            <a:ext cx="8833855" cy="5921715"/>
          </a:xfrm>
        </p:spPr>
      </p:pic>
    </p:spTree>
    <p:extLst>
      <p:ext uri="{BB962C8B-B14F-4D97-AF65-F5344CB8AC3E}">
        <p14:creationId xmlns:p14="http://schemas.microsoft.com/office/powerpoint/2010/main" val="390033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7B9F2-844B-7681-0466-24FB1519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BE013E-053A-B810-6DD9-D88148870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de-DE" dirty="0"/>
              <a:t>3.2. RFM Personas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49E61F89-2517-35C1-3260-48DF6528B8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7322891"/>
              </p:ext>
            </p:extLst>
          </p:nvPr>
        </p:nvGraphicFramePr>
        <p:xfrm>
          <a:off x="0" y="1799946"/>
          <a:ext cx="12191998" cy="3258108"/>
        </p:xfrm>
        <a:graphic>
          <a:graphicData uri="http://schemas.openxmlformats.org/drawingml/2006/table">
            <a:tbl>
              <a:tblPr/>
              <a:tblGrid>
                <a:gridCol w="2123854">
                  <a:extLst>
                    <a:ext uri="{9D8B030D-6E8A-4147-A177-3AD203B41FA5}">
                      <a16:colId xmlns:a16="http://schemas.microsoft.com/office/drawing/2014/main" val="1433523504"/>
                    </a:ext>
                  </a:extLst>
                </a:gridCol>
                <a:gridCol w="1379127">
                  <a:extLst>
                    <a:ext uri="{9D8B030D-6E8A-4147-A177-3AD203B41FA5}">
                      <a16:colId xmlns:a16="http://schemas.microsoft.com/office/drawing/2014/main" val="1605609402"/>
                    </a:ext>
                  </a:extLst>
                </a:gridCol>
                <a:gridCol w="1379127">
                  <a:extLst>
                    <a:ext uri="{9D8B030D-6E8A-4147-A177-3AD203B41FA5}">
                      <a16:colId xmlns:a16="http://schemas.microsoft.com/office/drawing/2014/main" val="2876746893"/>
                    </a:ext>
                  </a:extLst>
                </a:gridCol>
                <a:gridCol w="1379127">
                  <a:extLst>
                    <a:ext uri="{9D8B030D-6E8A-4147-A177-3AD203B41FA5}">
                      <a16:colId xmlns:a16="http://schemas.microsoft.com/office/drawing/2014/main" val="3616321638"/>
                    </a:ext>
                  </a:extLst>
                </a:gridCol>
                <a:gridCol w="5930763">
                  <a:extLst>
                    <a:ext uri="{9D8B030D-6E8A-4147-A177-3AD203B41FA5}">
                      <a16:colId xmlns:a16="http://schemas.microsoft.com/office/drawing/2014/main" val="2815458944"/>
                    </a:ext>
                  </a:extLst>
                </a:gridCol>
              </a:tblGrid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Persona (Code Prefix)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Recency (R)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Frequency (F)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 dirty="0" err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Monetary</a:t>
                      </a:r>
                      <a:r>
                        <a:rPr lang="de-DE" sz="12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(M)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Simple Description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9308310"/>
                  </a:ext>
                </a:extLst>
              </a:tr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 True Champions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Perfect (5)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Perfect (5)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Perfect (5)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Highest value, most recent, and most frequent buyers.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596819"/>
                  </a:ext>
                </a:extLst>
              </a:tr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B Premium High-Value Recents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Perfect (5)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&gt;= 3 (Medium/High)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Perfect (5)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spenders who bought recently, showing strong current value.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5005472"/>
                  </a:ext>
                </a:extLst>
              </a:tr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B Premium Loyal Recent Buyers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Perfect (5)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Perfect (5)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&gt;= 3 (Medium/High)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Most frequent buyers who bought recently, showing strong loyalty.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184442"/>
                  </a:ext>
                </a:extLst>
              </a:tr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B Premium Loyal Big Spenders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&gt;= 3 (Medium/High)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Perfect (5)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Perfect (5)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Highest frequency and spend, but Recency is starting to slip (need re-engagement).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941503"/>
                  </a:ext>
                </a:extLst>
              </a:tr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 Champion Contestants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(4)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(4)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(4)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Excellent performers across all metrics, just shy of the "Premium" tier.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7477736"/>
                  </a:ext>
                </a:extLst>
              </a:tr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 High-Value Recents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&gt;= 4 (High/Perfect)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Any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&gt;= 4 (High/Perfect)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spenders who made a recent purchase.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7647834"/>
                  </a:ext>
                </a:extLst>
              </a:tr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 Loyal Recent Buyers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&gt;= 4 (High/Perfect)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&gt;= 4 (High/Perfect)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Any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frequency customers who made a recent purchase.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2979947"/>
                  </a:ext>
                </a:extLst>
              </a:tr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 Loyal Big Spenders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Any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&gt;= 4 (High/Perfect)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&gt;= 4 (High/Perfect)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frequency customers who also spend a lot.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6264360"/>
                  </a:ext>
                </a:extLst>
              </a:tr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 New &amp; Active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&gt;= 4 (High/Perfect)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Any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Any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Newest customers—R is high, but F &amp; M haven't had time to grow yet.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2767495"/>
                  </a:ext>
                </a:extLst>
              </a:tr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 Big Spenders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Any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Any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&gt;= 4 (High/Perfect)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Defined solely by high total spending (Monetary value).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388945"/>
                  </a:ext>
                </a:extLst>
              </a:tr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 Frequent Visitors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Any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&gt;= 4 (High/Perfect)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Any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Defined solely by high purchase frequency.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921179"/>
                  </a:ext>
                </a:extLst>
              </a:tr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E Potential Re-Actives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 2 (Medium/High)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 2 (Medium/High)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&gt; 2 (Medium/High)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Scores are not the worst (at least one 3), but they need a prompt to return to higher tiers.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1363738"/>
                  </a:ext>
                </a:extLst>
              </a:tr>
              <a:tr h="23272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F Churn Risk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&lt;= 2 (Low)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&lt;= 2 (Low)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2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&lt;= 2 (Low)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b="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Lowest scores across the board. The most likely to stop buying.</a:t>
                      </a:r>
                    </a:p>
                  </a:txBody>
                  <a:tcPr marL="11922" marR="11922" marT="7948" marB="794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835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9083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14BF46-960F-816C-D59E-4D37DBB1D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de-DE" dirty="0"/>
              <a:t>3.3. Traveler Personas</a:t>
            </a:r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609719BA-FE8D-3B02-2E88-4DBD347AA2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9885965"/>
              </p:ext>
            </p:extLst>
          </p:nvPr>
        </p:nvGraphicFramePr>
        <p:xfrm>
          <a:off x="960268" y="1343818"/>
          <a:ext cx="10271464" cy="5157920"/>
        </p:xfrm>
        <a:graphic>
          <a:graphicData uri="http://schemas.openxmlformats.org/drawingml/2006/table">
            <a:tbl>
              <a:tblPr/>
              <a:tblGrid>
                <a:gridCol w="3202242">
                  <a:extLst>
                    <a:ext uri="{9D8B030D-6E8A-4147-A177-3AD203B41FA5}">
                      <a16:colId xmlns:a16="http://schemas.microsoft.com/office/drawing/2014/main" val="1700747602"/>
                    </a:ext>
                  </a:extLst>
                </a:gridCol>
                <a:gridCol w="7069222">
                  <a:extLst>
                    <a:ext uri="{9D8B030D-6E8A-4147-A177-3AD203B41FA5}">
                      <a16:colId xmlns:a16="http://schemas.microsoft.com/office/drawing/2014/main" val="3202929329"/>
                    </a:ext>
                  </a:extLst>
                </a:gridCol>
              </a:tblGrid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Customer Persona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Key Defining Condition(s)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2616026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Family Vacationer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Has Children AND High Rooms Taken AND High Seats Booked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9195534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Leisure Planner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Time to Flight AND High Nights Stayed AND High Rooms Taken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902435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Young Traveler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Age &lt; 30 AND Frequent Traveler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6034509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 dirty="0" err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Established</a:t>
                      </a:r>
                      <a:r>
                        <a:rPr lang="de-DE" sz="1300" b="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Professional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Age 35 to 63 AND High Flight Spending AND Low Nights Stayed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2853195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Value Shopper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Page Clicks AND Rare Traveler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1932561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Demanding Customer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Checked Bags AND High Page Clicks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7099828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Discount-Skeptic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Low Flight Discount Taken AND Low Hotel Discount Taken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06619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Business Traveler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Frequent Traveler AND Low Nights Stayed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8329436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Last-Minute Voyager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Low Time to Flight AND Low Return Flight Booked Percentage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6785936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Bargain Hunter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Flight Discount Taken AND High Hotel Discount Taken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9057050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Domestic Driver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Percentage of Domestic Flights AND High Percentage of Hotels w/o Flights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6451044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Driver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Percentage of Hotels w/o Flights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603683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Domestic Voyager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Percentage of Domestic Flights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5646679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Globetrotter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Low Percentage of Domestic Flights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444490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Instant-Buyer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Low Page Clicks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687625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Private Bed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High Percentage of Flights w/o Hotels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2464537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Frequent Leisure Traveler (Fallback)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Frequent Traveler (if no other rule applies)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8385349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Rare Traveler (Fallback)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Rare Traveler (if no other rule applies)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145977"/>
                  </a:ext>
                </a:extLst>
              </a:tr>
              <a:tr h="25789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de-DE" sz="1300" b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Others (Fallback)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300" b="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None of the above rules apply</a:t>
                      </a:r>
                    </a:p>
                  </a:txBody>
                  <a:tcPr marL="15394" marR="15394" marT="10263" marB="10263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24795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94689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63278E-372E-A3EA-7065-CE33CADC0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de-DE" dirty="0"/>
              <a:t>3.4. Customer Personas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AC0C49ED-4354-CF1F-4C49-33E5E1009F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93" y="2105035"/>
            <a:ext cx="12179007" cy="3863029"/>
          </a:xfrm>
        </p:spPr>
      </p:pic>
    </p:spTree>
    <p:extLst>
      <p:ext uri="{BB962C8B-B14F-4D97-AF65-F5344CB8AC3E}">
        <p14:creationId xmlns:p14="http://schemas.microsoft.com/office/powerpoint/2010/main" val="3889266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FC771F-248A-3DBD-7A61-5939E87D0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de-DE" dirty="0"/>
              <a:t>3.5. </a:t>
            </a:r>
            <a:r>
              <a:rPr lang="de-DE" dirty="0" err="1"/>
              <a:t>Perks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334973-5BC7-15E6-D18D-5084BC352B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3818"/>
            <a:ext cx="10515600" cy="5332190"/>
          </a:xfrm>
        </p:spPr>
        <p:txBody>
          <a:bodyPr>
            <a:normAutofit fontScale="55000" lnSpcReduction="20000"/>
          </a:bodyPr>
          <a:lstStyle/>
          <a:p>
            <a:r>
              <a:rPr lang="de-DE" dirty="0" err="1"/>
              <a:t>Bargain</a:t>
            </a:r>
            <a:r>
              <a:rPr lang="de-DE" dirty="0"/>
              <a:t> Hunter: Flexible Booking Discount</a:t>
            </a:r>
          </a:p>
          <a:p>
            <a:r>
              <a:rPr lang="de-DE" dirty="0"/>
              <a:t>Business Traveler: </a:t>
            </a:r>
            <a:r>
              <a:rPr lang="de-DE" dirty="0" err="1"/>
              <a:t>Complimentary</a:t>
            </a:r>
            <a:r>
              <a:rPr lang="de-DE" dirty="0"/>
              <a:t>/</a:t>
            </a:r>
            <a:r>
              <a:rPr lang="de-DE" dirty="0" err="1"/>
              <a:t>Discounted</a:t>
            </a:r>
            <a:r>
              <a:rPr lang="de-DE" dirty="0"/>
              <a:t> Class Upgrade</a:t>
            </a:r>
          </a:p>
          <a:p>
            <a:r>
              <a:rPr lang="de-DE" dirty="0" err="1"/>
              <a:t>Demanding</a:t>
            </a:r>
            <a:r>
              <a:rPr lang="de-DE" dirty="0"/>
              <a:t> Customer: Premium Service Add-</a:t>
            </a:r>
            <a:r>
              <a:rPr lang="de-DE" dirty="0" err="1"/>
              <a:t>ons</a:t>
            </a:r>
            <a:r>
              <a:rPr lang="de-DE" dirty="0"/>
              <a:t> *</a:t>
            </a:r>
          </a:p>
          <a:p>
            <a:r>
              <a:rPr lang="de-DE" dirty="0"/>
              <a:t>Discount-</a:t>
            </a:r>
            <a:r>
              <a:rPr lang="de-DE" dirty="0" err="1"/>
              <a:t>Skeptic</a:t>
            </a:r>
            <a:r>
              <a:rPr lang="de-DE" dirty="0"/>
              <a:t>: </a:t>
            </a:r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Cashback</a:t>
            </a:r>
            <a:r>
              <a:rPr lang="de-DE" dirty="0"/>
              <a:t> </a:t>
            </a:r>
            <a:r>
              <a:rPr lang="de-DE" dirty="0" err="1"/>
              <a:t>Rewards</a:t>
            </a:r>
            <a:endParaRPr lang="de-DE" dirty="0"/>
          </a:p>
          <a:p>
            <a:r>
              <a:rPr lang="de-DE" dirty="0" err="1"/>
              <a:t>Domestic</a:t>
            </a:r>
            <a:r>
              <a:rPr lang="de-DE" dirty="0"/>
              <a:t> Voyager: Ground Transport Discount</a:t>
            </a:r>
          </a:p>
          <a:p>
            <a:r>
              <a:rPr lang="de-DE" dirty="0" err="1"/>
              <a:t>Domestic</a:t>
            </a:r>
            <a:r>
              <a:rPr lang="de-DE" dirty="0"/>
              <a:t> Driver: </a:t>
            </a:r>
            <a:r>
              <a:rPr lang="de-DE" dirty="0" err="1"/>
              <a:t>flight</a:t>
            </a:r>
            <a:r>
              <a:rPr lang="de-DE" dirty="0"/>
              <a:t> + Ground Transport Discount</a:t>
            </a:r>
          </a:p>
          <a:p>
            <a:r>
              <a:rPr lang="de-DE" dirty="0"/>
              <a:t>Driver: </a:t>
            </a:r>
            <a:r>
              <a:rPr lang="de-DE" dirty="0" err="1"/>
              <a:t>flight</a:t>
            </a:r>
            <a:r>
              <a:rPr lang="de-DE" dirty="0"/>
              <a:t> + Ground Transport Discount</a:t>
            </a:r>
          </a:p>
          <a:p>
            <a:r>
              <a:rPr lang="de-DE" dirty="0" err="1"/>
              <a:t>Established</a:t>
            </a:r>
            <a:r>
              <a:rPr lang="de-DE" dirty="0"/>
              <a:t> Professional: Hotel Experience Vouchers</a:t>
            </a:r>
          </a:p>
          <a:p>
            <a:r>
              <a:rPr lang="de-DE" dirty="0"/>
              <a:t>Family </a:t>
            </a:r>
            <a:r>
              <a:rPr lang="de-DE" dirty="0" err="1"/>
              <a:t>Vacationer</a:t>
            </a:r>
            <a:r>
              <a:rPr lang="de-DE" dirty="0"/>
              <a:t>: Family Rate </a:t>
            </a:r>
            <a:r>
              <a:rPr lang="de-DE" dirty="0" err="1"/>
              <a:t>Perk</a:t>
            </a:r>
            <a:endParaRPr lang="de-DE" dirty="0"/>
          </a:p>
          <a:p>
            <a:r>
              <a:rPr lang="de-DE" dirty="0"/>
              <a:t>Globetrotter: Bonus </a:t>
            </a:r>
            <a:r>
              <a:rPr lang="de-DE" dirty="0" err="1"/>
              <a:t>Loyalty</a:t>
            </a:r>
            <a:r>
              <a:rPr lang="de-DE" dirty="0"/>
              <a:t> Points/Miles</a:t>
            </a:r>
          </a:p>
          <a:p>
            <a:r>
              <a:rPr lang="de-DE" dirty="0"/>
              <a:t>Instant-Buyer: Instant-Booking </a:t>
            </a:r>
            <a:r>
              <a:rPr lang="de-DE" dirty="0" err="1"/>
              <a:t>Rewards</a:t>
            </a:r>
            <a:endParaRPr lang="de-DE" dirty="0"/>
          </a:p>
          <a:p>
            <a:r>
              <a:rPr lang="de-DE" dirty="0"/>
              <a:t>Last-Minute Voyager: Flash Deals Access</a:t>
            </a:r>
          </a:p>
          <a:p>
            <a:r>
              <a:rPr lang="de-DE" dirty="0"/>
              <a:t>Leisure Planner: </a:t>
            </a:r>
            <a:r>
              <a:rPr lang="de-DE" dirty="0" err="1"/>
              <a:t>Accumulative</a:t>
            </a:r>
            <a:r>
              <a:rPr lang="de-DE" dirty="0"/>
              <a:t> </a:t>
            </a:r>
            <a:r>
              <a:rPr lang="de-DE" dirty="0" err="1"/>
              <a:t>Loyalty</a:t>
            </a:r>
            <a:r>
              <a:rPr lang="de-DE" dirty="0"/>
              <a:t> Discount</a:t>
            </a:r>
          </a:p>
          <a:p>
            <a:r>
              <a:rPr lang="de-DE" dirty="0"/>
              <a:t>Private </a:t>
            </a:r>
            <a:r>
              <a:rPr lang="de-DE" dirty="0" err="1"/>
              <a:t>Bed</a:t>
            </a:r>
            <a:r>
              <a:rPr lang="de-DE" dirty="0"/>
              <a:t>: </a:t>
            </a:r>
            <a:r>
              <a:rPr lang="de-DE" dirty="0" err="1"/>
              <a:t>flight</a:t>
            </a:r>
            <a:r>
              <a:rPr lang="de-DE" dirty="0"/>
              <a:t> </a:t>
            </a:r>
            <a:r>
              <a:rPr lang="de-DE" dirty="0" err="1"/>
              <a:t>discount</a:t>
            </a:r>
            <a:r>
              <a:rPr lang="de-DE" dirty="0"/>
              <a:t>/Premium Service Add-</a:t>
            </a:r>
            <a:r>
              <a:rPr lang="de-DE" dirty="0" err="1"/>
              <a:t>ons</a:t>
            </a:r>
            <a:r>
              <a:rPr lang="de-DE" dirty="0"/>
              <a:t> *</a:t>
            </a:r>
          </a:p>
          <a:p>
            <a:r>
              <a:rPr lang="de-DE" dirty="0"/>
              <a:t>Value Shopper: </a:t>
            </a:r>
            <a:r>
              <a:rPr lang="de-DE" dirty="0" err="1"/>
              <a:t>Accumulative</a:t>
            </a:r>
            <a:r>
              <a:rPr lang="de-DE" dirty="0"/>
              <a:t> </a:t>
            </a:r>
            <a:r>
              <a:rPr lang="de-DE" dirty="0" err="1"/>
              <a:t>Loyalty</a:t>
            </a:r>
            <a:r>
              <a:rPr lang="de-DE" dirty="0"/>
              <a:t> Discount</a:t>
            </a:r>
          </a:p>
          <a:p>
            <a:r>
              <a:rPr lang="de-DE" dirty="0"/>
              <a:t>Young Traveler: Destination Experience </a:t>
            </a:r>
            <a:r>
              <a:rPr lang="de-DE" dirty="0" err="1"/>
              <a:t>Perks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*</a:t>
            </a:r>
            <a:r>
              <a:rPr lang="de-DE" dirty="0" err="1"/>
              <a:t>Complimentary</a:t>
            </a:r>
            <a:r>
              <a:rPr lang="de-DE" dirty="0"/>
              <a:t> </a:t>
            </a:r>
            <a:r>
              <a:rPr lang="de-DE" dirty="0" err="1"/>
              <a:t>checked</a:t>
            </a:r>
            <a:r>
              <a:rPr lang="de-DE" dirty="0"/>
              <a:t> </a:t>
            </a:r>
            <a:r>
              <a:rPr lang="de-DE" dirty="0" err="1"/>
              <a:t>baggage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priority</a:t>
            </a:r>
            <a:r>
              <a:rPr lang="de-DE" dirty="0"/>
              <a:t> </a:t>
            </a:r>
            <a:r>
              <a:rPr lang="de-DE" dirty="0" err="1"/>
              <a:t>check-in</a:t>
            </a:r>
            <a:r>
              <a:rPr lang="de-DE" dirty="0"/>
              <a:t>/</a:t>
            </a:r>
            <a:r>
              <a:rPr lang="de-DE" dirty="0" err="1"/>
              <a:t>boarding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7398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C9E446-618D-451F-5593-C6A5BBFCD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noProof="0" dirty="0"/>
              <a:t>3.5. Perks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DCC137B-5203-84C8-A7E4-212FBB6CA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Tier 1 (A): Elite 20 % Discount</a:t>
            </a:r>
          </a:p>
          <a:p>
            <a:r>
              <a:rPr lang="en-US" noProof="0" dirty="0"/>
              <a:t>Tier 2 (B): Premium 15 % Discount</a:t>
            </a:r>
          </a:p>
          <a:p>
            <a:r>
              <a:rPr lang="en-US" noProof="0" dirty="0"/>
              <a:t>Tier 3 (C): 10 % Discount</a:t>
            </a:r>
          </a:p>
          <a:p>
            <a:r>
              <a:rPr lang="en-US" noProof="0" dirty="0"/>
              <a:t>Tier 4 (D): 5 % Discount</a:t>
            </a:r>
          </a:p>
          <a:p>
            <a:r>
              <a:rPr lang="en-US" noProof="0" dirty="0"/>
              <a:t>Tier 5 (E): 5 % Loyalty Credit (after 3 bookings)</a:t>
            </a:r>
          </a:p>
          <a:p>
            <a:r>
              <a:rPr lang="en-US" noProof="0" dirty="0"/>
              <a:t>Tier 6 (F): 5 % Loyalty Credit (after 5 bookings)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81241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D0724-0129-228B-0FC2-696E0BECE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noProof="0" dirty="0"/>
              <a:t>4. Recommended Next Steps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52DE6B-7E42-69AA-A09F-EE84399C8F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Gather data on the customer response to the perks</a:t>
            </a:r>
          </a:p>
          <a:p>
            <a:r>
              <a:rPr lang="en-US" noProof="0" dirty="0"/>
              <a:t>A/B testing with different perks connected with different fitting personas</a:t>
            </a:r>
          </a:p>
          <a:p>
            <a:r>
              <a:rPr lang="en-US" noProof="0" dirty="0"/>
              <a:t>Try different perks on customers that did not respond to the first perk</a:t>
            </a:r>
          </a:p>
          <a:p>
            <a:r>
              <a:rPr lang="en-US" noProof="0" dirty="0"/>
              <a:t>Check for correlation between perks and ML-clusters</a:t>
            </a:r>
          </a:p>
          <a:p>
            <a:r>
              <a:rPr lang="en-US" noProof="0" dirty="0"/>
              <a:t>Implement supervised classification ML-models</a:t>
            </a:r>
          </a:p>
        </p:txBody>
      </p:sp>
    </p:spTree>
    <p:extLst>
      <p:ext uri="{BB962C8B-B14F-4D97-AF65-F5344CB8AC3E}">
        <p14:creationId xmlns:p14="http://schemas.microsoft.com/office/powerpoint/2010/main" val="3355498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1178</Words>
  <Application>Microsoft Office PowerPoint</Application>
  <PresentationFormat>Breitbild</PresentationFormat>
  <Paragraphs>222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7" baseType="lpstr">
      <vt:lpstr>Arial</vt:lpstr>
      <vt:lpstr>Calibri</vt:lpstr>
      <vt:lpstr>Calibri Light</vt:lpstr>
      <vt:lpstr>Google Sans Text</vt:lpstr>
      <vt:lpstr>Symbol</vt:lpstr>
      <vt:lpstr>Wingdings</vt:lpstr>
      <vt:lpstr>Office</vt:lpstr>
      <vt:lpstr>TravelTide  Customer Retention</vt:lpstr>
      <vt:lpstr>Agenda</vt:lpstr>
      <vt:lpstr>1.1. TravelTide and the Task</vt:lpstr>
      <vt:lpstr>1.2. TravelTides Data</vt:lpstr>
      <vt:lpstr>1.3. First Steps - Cleaning and Aggregating </vt:lpstr>
      <vt:lpstr>2.1. Distributions - Clicks</vt:lpstr>
      <vt:lpstr>2.1. Distributions - Clicks</vt:lpstr>
      <vt:lpstr>2.1. Distributions - Trips</vt:lpstr>
      <vt:lpstr>2.1. Distributions - Age</vt:lpstr>
      <vt:lpstr>2.1. Distributions - Flight Distance</vt:lpstr>
      <vt:lpstr>2.1. Distributions - Time to Flight</vt:lpstr>
      <vt:lpstr>2.2. Percentages of Qualitative Values</vt:lpstr>
      <vt:lpstr>2.3. Correlations</vt:lpstr>
      <vt:lpstr>3.1. ML-Clustering</vt:lpstr>
      <vt:lpstr>3.2. RFM Personas</vt:lpstr>
      <vt:lpstr>3.3. Traveler Personas</vt:lpstr>
      <vt:lpstr>3.4. Customer Personas</vt:lpstr>
      <vt:lpstr>3.5. Perks</vt:lpstr>
      <vt:lpstr>3.5. Perks</vt:lpstr>
      <vt:lpstr>4. Recommended 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Florian Dupper</dc:creator>
  <cp:lastModifiedBy>Florian Dupper</cp:lastModifiedBy>
  <cp:revision>7</cp:revision>
  <dcterms:created xsi:type="dcterms:W3CDTF">2025-11-02T23:39:15Z</dcterms:created>
  <dcterms:modified xsi:type="dcterms:W3CDTF">2025-11-10T23:08:48Z</dcterms:modified>
</cp:coreProperties>
</file>