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1" r:id="rId4"/>
    <p:sldId id="264" r:id="rId5"/>
    <p:sldId id="292" r:id="rId6"/>
    <p:sldId id="277" r:id="rId7"/>
    <p:sldId id="298" r:id="rId8"/>
    <p:sldId id="297" r:id="rId9"/>
    <p:sldId id="296" r:id="rId10"/>
    <p:sldId id="295" r:id="rId11"/>
    <p:sldId id="294" r:id="rId12"/>
    <p:sldId id="293" r:id="rId13"/>
    <p:sldId id="280" r:id="rId14"/>
    <p:sldId id="281" r:id="rId15"/>
    <p:sldId id="282" r:id="rId16"/>
    <p:sldId id="283" r:id="rId17"/>
    <p:sldId id="299" r:id="rId18"/>
    <p:sldId id="300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F19"/>
    <a:srgbClr val="E8E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4F012D-4DF0-4978-0CF0-3BC50E76F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28E2C0-D046-A089-487E-9D277DC2E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62067B-0B05-DBDC-27AF-CF76CE65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B4BE85-DED6-70C0-8716-9D5889DA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84D8A0-DD8D-2BBD-C8F8-68DE55E9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4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28637-1750-A196-AC16-70FBBB6A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3832DA-9D6B-CFA1-DF23-EA798283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9D09D3-1AD2-3EE8-90D8-1D8D30E3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92C3F6-6EB8-CA97-0675-BB1556F3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FC9BC5-290E-68DC-1B9E-BE5E786E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2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B39D2-5DBF-BFB1-4F9A-553BE401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CBEA45-98A5-F6E1-EA29-3A447B50D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79C6F8-0905-BE0D-AF74-F56C73F2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D22F2E-F526-9FFF-3C12-28EE9889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1B4AAF-4924-D14E-DFD3-2582D023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4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DDD97-062D-6373-543C-E019C75B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EB910A-29C5-996A-B6F3-911F99EA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565FB9-D9C2-20DA-766C-8ABB9F4A9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52CF2B-7649-764C-B936-C4EA5266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BE7BBE-DE9F-4DA3-D98A-C29EAAF3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77A952-1D56-5563-A024-BE6530E1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A89F3-6E8D-4A9E-2F84-A69CA195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B7266E-370E-6CE0-97B1-A15EFCD5E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9E9BAC3-0992-ADAA-FD18-09F942EC4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7571D4-A043-6561-8279-75A6C9659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645532-8705-F543-6E93-BF98D1DEB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00AE866-C509-96E3-BA50-BFAB0EA5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5C254F-2A7A-D5AB-242F-7E3F8A35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682A62-B4BF-5326-F692-A765C3C6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4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B8800-E092-5642-F12D-DA883A05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E7804A-C04D-B2C6-02AB-643AB8D6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7BD96D-C37A-252D-E81C-8F7174F4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EE9EDE-DE41-57A4-F02C-A90D139E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2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2F2C47-01C6-4247-6F92-0EF57EA3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7C3A1D-07D9-754E-0907-A868D2D6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6C35F1-E1EA-909B-BE51-31E45F62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0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AE34B-FF88-A6F3-0DC6-46EB3983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87A70C-45B8-956C-2456-4C1DA5D65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3134AA-B4A1-168F-A084-F63CDC31A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0DFE2E-780C-1E14-90D2-38D30454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DAD967-E932-76D7-11E3-8024FFA6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BE81BC-F09D-D528-2F6F-8880D54C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B01F4E-A877-0DF8-B241-E03D8EC8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50BEC8-9D78-A2F5-1DAC-2EF2ACB1C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610C00-27FB-20C5-CB51-6FB569E67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91DE80-DF81-C6A1-6770-E0A74EB6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8373FD-9C40-AA6B-ED57-6EDEBBC2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AA5E11-C242-0F28-47C5-3EBF22B7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BD141-5720-C911-20C1-4EF7E559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3452488-7BB9-C89E-7316-A86AEC2A0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32873A-D5CC-3133-7E02-7954A530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6CA7F3-1718-9F9D-4B88-0145B6D7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8AFB50-267A-CFEE-6BBE-0E2738FE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7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358AF6E-ECAF-AE05-9D51-946C372E0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89CB56-0E92-CCDD-A761-511EB8812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F23008-C0B5-0CC1-D177-82392CDD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E032B4-5516-67CE-6C09-7BA88854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67C722-8BB6-CBDC-A1AD-C248B251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5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40BE5E-02EB-CC19-6929-D1816C99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3BD7A1-E31B-BE9B-9CEB-BC5A6DA75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E00AD2-1E4A-1D88-6102-3AD43DC67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D3B9F-4DB0-4167-A535-ACEBBA67D5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72A5A9-BE8B-4B81-AE9A-A9EA58D78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B9EBFB-07BD-2582-4425-FAE7229B3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C0725-FD36-4E9C-8DCB-168A0D0412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8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0E201D4E-174F-0843-2E5F-C68D2D099716}"/>
              </a:ext>
            </a:extLst>
          </p:cNvPr>
          <p:cNvSpPr/>
          <p:nvPr/>
        </p:nvSpPr>
        <p:spPr>
          <a:xfrm>
            <a:off x="3192000" y="1371942"/>
            <a:ext cx="900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ussdiagramm: Daten 3">
            <a:extLst>
              <a:ext uri="{FF2B5EF4-FFF2-40B4-BE49-F238E27FC236}">
                <a16:creationId xmlns:a16="http://schemas.microsoft.com/office/drawing/2014/main" id="{D2445ED7-5358-CDF6-F115-9C8DFA63FCFB}"/>
              </a:ext>
            </a:extLst>
          </p:cNvPr>
          <p:cNvSpPr/>
          <p:nvPr/>
        </p:nvSpPr>
        <p:spPr>
          <a:xfrm>
            <a:off x="3512284" y="4503531"/>
            <a:ext cx="7200000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994A631-3963-D845-FCDF-81C7F0115713}"/>
              </a:ext>
            </a:extLst>
          </p:cNvPr>
          <p:cNvSpPr txBox="1"/>
          <p:nvPr/>
        </p:nvSpPr>
        <p:spPr>
          <a:xfrm>
            <a:off x="3192001" y="434644"/>
            <a:ext cx="900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>
                <a:solidFill>
                  <a:srgbClr val="283F19"/>
                </a:solidFill>
              </a:rPr>
              <a:t>TravelTide</a:t>
            </a:r>
            <a:endParaRPr lang="en-US" sz="7200" dirty="0">
              <a:solidFill>
                <a:srgbClr val="283F19"/>
              </a:solidFill>
            </a:endParaRPr>
          </a:p>
          <a:p>
            <a:pPr algn="ctr"/>
            <a:r>
              <a:rPr lang="en-US" sz="7200" dirty="0">
                <a:solidFill>
                  <a:srgbClr val="283F19"/>
                </a:solidFill>
              </a:rPr>
              <a:t>Customer Retention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475F719-FA88-8F63-8DD8-614435EC8C93}"/>
              </a:ext>
            </a:extLst>
          </p:cNvPr>
          <p:cNvSpPr txBox="1"/>
          <p:nvPr/>
        </p:nvSpPr>
        <p:spPr>
          <a:xfrm>
            <a:off x="3512284" y="3981824"/>
            <a:ext cx="72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283F19"/>
                </a:solidFill>
              </a:rPr>
              <a:t>Creating Customer Segmentation to align with Perks</a:t>
            </a:r>
          </a:p>
        </p:txBody>
      </p:sp>
      <p:sp>
        <p:nvSpPr>
          <p:cNvPr id="30" name="Flussdiagramm: Daten 3">
            <a:extLst>
              <a:ext uri="{FF2B5EF4-FFF2-40B4-BE49-F238E27FC236}">
                <a16:creationId xmlns:a16="http://schemas.microsoft.com/office/drawing/2014/main" id="{1C2377A9-2589-AA10-BE02-B1D4DEC169D7}"/>
              </a:ext>
            </a:extLst>
          </p:cNvPr>
          <p:cNvSpPr/>
          <p:nvPr/>
        </p:nvSpPr>
        <p:spPr>
          <a:xfrm>
            <a:off x="3192000" y="2486585"/>
            <a:ext cx="900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ussdiagramm: Daten 3">
            <a:extLst>
              <a:ext uri="{FF2B5EF4-FFF2-40B4-BE49-F238E27FC236}">
                <a16:creationId xmlns:a16="http://schemas.microsoft.com/office/drawing/2014/main" id="{48737A1C-50AC-2EAB-0D33-5AE16C564A16}"/>
              </a:ext>
            </a:extLst>
          </p:cNvPr>
          <p:cNvSpPr/>
          <p:nvPr/>
        </p:nvSpPr>
        <p:spPr>
          <a:xfrm>
            <a:off x="5312284" y="5061238"/>
            <a:ext cx="3600000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162454-5952-E029-885E-69C95262E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3" y="945075"/>
            <a:ext cx="2675356" cy="357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3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EFD62-F763-42B4-737D-4B9C60115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92C13EF7-9D72-F899-EE88-4B702FC24B31}"/>
              </a:ext>
            </a:extLst>
          </p:cNvPr>
          <p:cNvSpPr/>
          <p:nvPr/>
        </p:nvSpPr>
        <p:spPr>
          <a:xfrm>
            <a:off x="0" y="1152903"/>
            <a:ext cx="432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ussdiagramm: Daten 3">
            <a:extLst>
              <a:ext uri="{FF2B5EF4-FFF2-40B4-BE49-F238E27FC236}">
                <a16:creationId xmlns:a16="http://schemas.microsoft.com/office/drawing/2014/main" id="{9B355280-273E-047B-01D3-71A7B841D3A6}"/>
              </a:ext>
            </a:extLst>
          </p:cNvPr>
          <p:cNvSpPr/>
          <p:nvPr/>
        </p:nvSpPr>
        <p:spPr>
          <a:xfrm>
            <a:off x="0" y="6822000"/>
            <a:ext cx="7920000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EA3D9B0-853A-708F-0B8F-4E7CB0D232FC}"/>
              </a:ext>
            </a:extLst>
          </p:cNvPr>
          <p:cNvSpPr txBox="1"/>
          <p:nvPr/>
        </p:nvSpPr>
        <p:spPr>
          <a:xfrm>
            <a:off x="569167" y="215605"/>
            <a:ext cx="8430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Content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D877C7D-1696-689E-3846-D1EC1726C4ED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4DE53E7-C56A-EB5B-03E8-54472FE8EE1B}"/>
              </a:ext>
            </a:extLst>
          </p:cNvPr>
          <p:cNvSpPr txBox="1"/>
          <p:nvPr/>
        </p:nvSpPr>
        <p:spPr>
          <a:xfrm>
            <a:off x="320287" y="1308525"/>
            <a:ext cx="86797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3000" dirty="0" err="1">
                <a:solidFill>
                  <a:srgbClr val="283F19"/>
                </a:solidFill>
              </a:rPr>
              <a:t>TravelTide</a:t>
            </a:r>
            <a:r>
              <a:rPr lang="en-US" sz="3000" dirty="0">
                <a:solidFill>
                  <a:srgbClr val="283F19"/>
                </a:solidFill>
              </a:rPr>
              <a:t> the Task &amp; Data Foundation</a:t>
            </a:r>
          </a:p>
          <a:p>
            <a:pPr marL="1200150" lvl="1" indent="-742950">
              <a:buAutoNum type="arabicPeriod"/>
            </a:pPr>
            <a:r>
              <a:rPr lang="en-US" sz="2400" dirty="0" err="1">
                <a:solidFill>
                  <a:srgbClr val="283F19"/>
                </a:solidFill>
              </a:rPr>
              <a:t>TravelTide</a:t>
            </a:r>
            <a:r>
              <a:rPr lang="en-US" sz="2400" dirty="0">
                <a:solidFill>
                  <a:srgbClr val="283F19"/>
                </a:solidFill>
              </a:rPr>
              <a:t> &amp; the Task</a:t>
            </a:r>
          </a:p>
          <a:p>
            <a:pPr marL="1200150" lvl="1" indent="-742950">
              <a:buAutoNum type="arabicPeriod"/>
            </a:pPr>
            <a:r>
              <a:rPr lang="en-US" sz="2400" dirty="0" err="1">
                <a:solidFill>
                  <a:srgbClr val="283F19"/>
                </a:solidFill>
              </a:rPr>
              <a:t>TravelTide’s</a:t>
            </a:r>
            <a:r>
              <a:rPr lang="en-US" sz="2400" dirty="0">
                <a:solidFill>
                  <a:srgbClr val="283F19"/>
                </a:solidFill>
              </a:rPr>
              <a:t>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First Steps – Cleaning and Aggregation</a:t>
            </a:r>
          </a:p>
          <a:p>
            <a:pPr marL="742950" indent="-742950">
              <a:buAutoNum type="arabicPeriod"/>
            </a:pPr>
            <a:r>
              <a:rPr lang="en-US" sz="3000" dirty="0">
                <a:solidFill>
                  <a:srgbClr val="283F19"/>
                </a:solidFill>
              </a:rPr>
              <a:t>Business Insights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Distributions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Percentages of qualitative Values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Correlations</a:t>
            </a:r>
          </a:p>
          <a:p>
            <a:pPr marL="742950" indent="-742950">
              <a:buAutoNum type="arabicPeriod"/>
            </a:pPr>
            <a:r>
              <a:rPr lang="en-US" sz="3000" dirty="0">
                <a:solidFill>
                  <a:srgbClr val="283F19"/>
                </a:solidFill>
              </a:rPr>
              <a:t>Segments &amp; Perks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RFM Personas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Customer Personas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ML-Clustering</a:t>
            </a:r>
          </a:p>
          <a:p>
            <a:pPr marL="1200150" lvl="1" indent="-742950">
              <a:buAutoNum type="arabicPeriod"/>
            </a:pPr>
            <a:r>
              <a:rPr lang="en-US" sz="2400" dirty="0">
                <a:solidFill>
                  <a:srgbClr val="283F19"/>
                </a:solidFill>
              </a:rPr>
              <a:t>Perks</a:t>
            </a:r>
          </a:p>
          <a:p>
            <a:pPr marL="742950" indent="-742950">
              <a:buAutoNum type="arabicPeriod"/>
            </a:pPr>
            <a:r>
              <a:rPr lang="en-US" sz="3000" dirty="0">
                <a:solidFill>
                  <a:srgbClr val="283F19"/>
                </a:solidFill>
              </a:rPr>
              <a:t>Recommended next Steps</a:t>
            </a:r>
          </a:p>
        </p:txBody>
      </p:sp>
      <p:sp>
        <p:nvSpPr>
          <p:cNvPr id="2" name="Flussdiagramm: Daten 3">
            <a:extLst>
              <a:ext uri="{FF2B5EF4-FFF2-40B4-BE49-F238E27FC236}">
                <a16:creationId xmlns:a16="http://schemas.microsoft.com/office/drawing/2014/main" id="{21A60F50-FA1C-D44B-5442-0DB6DE334BC1}"/>
              </a:ext>
            </a:extLst>
          </p:cNvPr>
          <p:cNvSpPr/>
          <p:nvPr/>
        </p:nvSpPr>
        <p:spPr>
          <a:xfrm>
            <a:off x="-119448" y="1809276"/>
            <a:ext cx="7920000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ussdiagramm: Daten 3">
            <a:extLst>
              <a:ext uri="{FF2B5EF4-FFF2-40B4-BE49-F238E27FC236}">
                <a16:creationId xmlns:a16="http://schemas.microsoft.com/office/drawing/2014/main" id="{5BE60FC3-166D-B067-6DA6-9901868ECE47}"/>
              </a:ext>
            </a:extLst>
          </p:cNvPr>
          <p:cNvSpPr/>
          <p:nvPr/>
        </p:nvSpPr>
        <p:spPr>
          <a:xfrm>
            <a:off x="-119449" y="3355929"/>
            <a:ext cx="7920000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ussdiagramm: Daten 3">
            <a:extLst>
              <a:ext uri="{FF2B5EF4-FFF2-40B4-BE49-F238E27FC236}">
                <a16:creationId xmlns:a16="http://schemas.microsoft.com/office/drawing/2014/main" id="{C00DDA6C-459A-FFFD-C618-5C901D1C9B59}"/>
              </a:ext>
            </a:extLst>
          </p:cNvPr>
          <p:cNvSpPr/>
          <p:nvPr/>
        </p:nvSpPr>
        <p:spPr>
          <a:xfrm>
            <a:off x="-1" y="4903653"/>
            <a:ext cx="7920000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9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CC2E7-EE74-2B04-9AF1-DD064A07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CDDD188C-43B6-C1E1-8E31-C68F60E0F097}"/>
              </a:ext>
            </a:extLst>
          </p:cNvPr>
          <p:cNvSpPr/>
          <p:nvPr/>
        </p:nvSpPr>
        <p:spPr>
          <a:xfrm>
            <a:off x="0" y="1152903"/>
            <a:ext cx="1080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ussdiagramm: Daten 3">
            <a:extLst>
              <a:ext uri="{FF2B5EF4-FFF2-40B4-BE49-F238E27FC236}">
                <a16:creationId xmlns:a16="http://schemas.microsoft.com/office/drawing/2014/main" id="{768F093F-F827-C62F-F18B-F0318B88A216}"/>
              </a:ext>
            </a:extLst>
          </p:cNvPr>
          <p:cNvSpPr/>
          <p:nvPr/>
        </p:nvSpPr>
        <p:spPr>
          <a:xfrm>
            <a:off x="0" y="6822000"/>
            <a:ext cx="8679713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0F8894-CACD-55C2-D836-07B63BBA51A1}"/>
              </a:ext>
            </a:extLst>
          </p:cNvPr>
          <p:cNvSpPr txBox="1"/>
          <p:nvPr/>
        </p:nvSpPr>
        <p:spPr>
          <a:xfrm>
            <a:off x="569167" y="215605"/>
            <a:ext cx="10428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1.1. </a:t>
            </a:r>
            <a:r>
              <a:rPr lang="en-US" sz="7200" dirty="0" err="1">
                <a:solidFill>
                  <a:srgbClr val="283F19"/>
                </a:solidFill>
              </a:rPr>
              <a:t>TravelTide</a:t>
            </a:r>
            <a:r>
              <a:rPr lang="en-US" sz="7200" dirty="0">
                <a:solidFill>
                  <a:srgbClr val="283F19"/>
                </a:solidFill>
              </a:rPr>
              <a:t> &amp; the Task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786818E-0320-5302-5EAD-DF7995F3E0BF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BE243A3-EB73-D142-3213-34B6C23E432F}"/>
              </a:ext>
            </a:extLst>
          </p:cNvPr>
          <p:cNvSpPr txBox="1"/>
          <p:nvPr/>
        </p:nvSpPr>
        <p:spPr>
          <a:xfrm>
            <a:off x="444726" y="1715127"/>
            <a:ext cx="86797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Offers different AI powered planning helpers: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000" noProof="0" dirty="0">
                <a:solidFill>
                  <a:srgbClr val="283F19"/>
                </a:solidFill>
              </a:rPr>
              <a:t>Travel Itinerary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000" noProof="0" dirty="0">
                <a:solidFill>
                  <a:srgbClr val="283F19"/>
                </a:solidFill>
              </a:rPr>
              <a:t>Travel Plan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000" noProof="0" dirty="0">
                <a:solidFill>
                  <a:srgbClr val="283F19"/>
                </a:solidFill>
              </a:rPr>
              <a:t>Travel Deals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000" noProof="0" dirty="0">
                <a:solidFill>
                  <a:srgbClr val="283F19"/>
                </a:solidFill>
              </a:rPr>
              <a:t>Travel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Leaves the choice of booking to the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Works on large data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The task: Face customer retention by segmentizing  customers and find fitting perks</a:t>
            </a:r>
          </a:p>
        </p:txBody>
      </p:sp>
      <p:sp>
        <p:nvSpPr>
          <p:cNvPr id="3" name="Teilkreis 2">
            <a:extLst>
              <a:ext uri="{FF2B5EF4-FFF2-40B4-BE49-F238E27FC236}">
                <a16:creationId xmlns:a16="http://schemas.microsoft.com/office/drawing/2014/main" id="{FFE55727-9995-CF33-C371-8997418100AC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4869514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2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5294F-D41F-901D-B44A-D22A9AED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449E9B91-5A9C-FA9A-9115-45417C51118F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EC143AC-ED79-3CBE-615B-9BE71B24E807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1.2. </a:t>
            </a:r>
            <a:r>
              <a:rPr lang="en-US" sz="7200" dirty="0" err="1">
                <a:solidFill>
                  <a:srgbClr val="283F19"/>
                </a:solidFill>
              </a:rPr>
              <a:t>TravelTide’s</a:t>
            </a:r>
            <a:r>
              <a:rPr lang="en-US" sz="7200" dirty="0">
                <a:solidFill>
                  <a:srgbClr val="283F19"/>
                </a:solidFill>
              </a:rPr>
              <a:t> Data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4D88658-D774-2102-9AFC-C9127DE5E431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nhaltsplatzhalter 8">
            <a:extLst>
              <a:ext uri="{FF2B5EF4-FFF2-40B4-BE49-F238E27FC236}">
                <a16:creationId xmlns:a16="http://schemas.microsoft.com/office/drawing/2014/main" id="{24C336A0-BE6C-E210-25D0-4FB30210E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175" y="1415934"/>
            <a:ext cx="8495650" cy="4973920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32875581-E75F-49B7-C5A6-FD438DA7955B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3522284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4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85A6F-3AF4-0A93-AE00-B83B2B2B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735EA810-9217-2007-2244-00B0D14650E9}"/>
              </a:ext>
            </a:extLst>
          </p:cNvPr>
          <p:cNvSpPr/>
          <p:nvPr/>
        </p:nvSpPr>
        <p:spPr>
          <a:xfrm>
            <a:off x="0" y="1152903"/>
            <a:ext cx="1152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ussdiagramm: Daten 3">
            <a:extLst>
              <a:ext uri="{FF2B5EF4-FFF2-40B4-BE49-F238E27FC236}">
                <a16:creationId xmlns:a16="http://schemas.microsoft.com/office/drawing/2014/main" id="{9DAD7F4F-CE69-AC8C-E539-93C39CACC95B}"/>
              </a:ext>
            </a:extLst>
          </p:cNvPr>
          <p:cNvSpPr/>
          <p:nvPr/>
        </p:nvSpPr>
        <p:spPr>
          <a:xfrm>
            <a:off x="0" y="6822000"/>
            <a:ext cx="8679713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A3BA655-8614-0F39-C62B-86E1E0C0FC76}"/>
              </a:ext>
            </a:extLst>
          </p:cNvPr>
          <p:cNvSpPr txBox="1"/>
          <p:nvPr/>
        </p:nvSpPr>
        <p:spPr>
          <a:xfrm>
            <a:off x="569167" y="215605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1.3. Cleaning &amp; Aggregating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7F3F829-D61E-E617-1C84-E11293C825B8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47DA242-BEA5-ABBD-F294-9F0A4B0D5597}"/>
              </a:ext>
            </a:extLst>
          </p:cNvPr>
          <p:cNvSpPr txBox="1"/>
          <p:nvPr/>
        </p:nvSpPr>
        <p:spPr>
          <a:xfrm>
            <a:off x="569167" y="1832916"/>
            <a:ext cx="1080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entries with negative count of nights as well as negative time delta between check in and check out times got deleted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An aggregation for users is suitable due to the focus on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Filtering users with more than 7 sessions since April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noProof="0" dirty="0">
                <a:solidFill>
                  <a:srgbClr val="283F19"/>
                </a:solidFill>
              </a:rPr>
              <a:t>New calculated features: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3000" noProof="0" dirty="0">
                <a:solidFill>
                  <a:srgbClr val="283F19"/>
                </a:solidFill>
              </a:rPr>
              <a:t>Average distance flown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3000" noProof="0" dirty="0">
                <a:solidFill>
                  <a:srgbClr val="283F19"/>
                </a:solidFill>
              </a:rPr>
              <a:t>Age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3000" noProof="0" dirty="0">
                <a:solidFill>
                  <a:srgbClr val="283F19"/>
                </a:solidFill>
              </a:rPr>
              <a:t>Percent of flight without hotel bookings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3000" noProof="0" dirty="0">
                <a:solidFill>
                  <a:srgbClr val="283F19"/>
                </a:solidFill>
              </a:rPr>
              <a:t>Percent of hotel without flight bookings</a:t>
            </a:r>
          </a:p>
        </p:txBody>
      </p:sp>
      <p:sp>
        <p:nvSpPr>
          <p:cNvPr id="3" name="Teilkreis 2">
            <a:extLst>
              <a:ext uri="{FF2B5EF4-FFF2-40B4-BE49-F238E27FC236}">
                <a16:creationId xmlns:a16="http://schemas.microsoft.com/office/drawing/2014/main" id="{3F07E14E-9CE8-0495-B1E2-8F60CA58DC21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2165525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67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5294F-D41F-901D-B44A-D22A9AED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449E9B91-5A9C-FA9A-9115-45417C51118F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EC143AC-ED79-3CBE-615B-9BE71B24E807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2.1. Distributions - Clicks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4D88658-D774-2102-9AFC-C9127DE5E431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2937F178-6862-84EB-DE46-4BA410E96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56" y="1371941"/>
            <a:ext cx="11520000" cy="5392341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32875581-E75F-49B7-C5A6-FD438DA7955B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0801091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47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505A1-9958-C920-8570-B64A9B76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960E9832-C7D4-6A1D-DF37-D9A01124348C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2935E42-AEF9-0985-9C86-AF60A69377BA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2.1. Distributions - Trips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6D26BD8-B44B-E72A-604F-F1374361082B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FA1396A-1120-E1E3-B2C3-FE8223D15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1371941"/>
            <a:ext cx="11520000" cy="5392341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18039E9E-75B9-3AEA-8059-35F056015C33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9472390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04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90B2F-6666-576F-43C3-F926BFFB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F8DFE5D1-45D8-FC2F-EF47-57717798FBB0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370A923-9E4A-E39B-634F-E3D17C6F3467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2.1. Distributions - Age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9EE26C0-0219-8098-A97F-9191366F64BD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5343B0C-242D-5E8D-AE58-270C5ACDA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56" y="1371941"/>
            <a:ext cx="11520000" cy="5392341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2F14CB6A-3E8E-6C44-63B3-BFCC1A617414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8111957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308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BCA34-1EF3-4FB9-870E-B3DE1FE9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C39DC3D8-3110-373E-E36A-FA71355B3A47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1FE4976-51E4-560A-C82F-B9C0B9624E06}"/>
              </a:ext>
            </a:extLst>
          </p:cNvPr>
          <p:cNvSpPr txBox="1"/>
          <p:nvPr/>
        </p:nvSpPr>
        <p:spPr>
          <a:xfrm>
            <a:off x="335999" y="239775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283F19"/>
                </a:solidFill>
              </a:rPr>
              <a:t>2.1. Distributions - Flight Distance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B6792B1-6980-D2DF-375F-965A0247945A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B66C307-3A47-8534-21DE-EE384E13E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9" y="1371941"/>
            <a:ext cx="11520000" cy="5392341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2FE975E6-C107-7E1A-0C40-029F65A3EE2F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6767729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3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8D2CD-F873-4FE5-B609-EB41A488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28633328-17E2-1247-664D-6BB2018F5AE8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C4C3020-AAD4-0385-4670-93516057501E}"/>
              </a:ext>
            </a:extLst>
          </p:cNvPr>
          <p:cNvSpPr txBox="1"/>
          <p:nvPr/>
        </p:nvSpPr>
        <p:spPr>
          <a:xfrm>
            <a:off x="569167" y="215605"/>
            <a:ext cx="114362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283F19"/>
                </a:solidFill>
              </a:rPr>
              <a:t>2.1. Distributions - Time to Flight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170A91E-F618-327E-2C33-A5CB0CADE425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ilkreis 25">
            <a:extLst>
              <a:ext uri="{FF2B5EF4-FFF2-40B4-BE49-F238E27FC236}">
                <a16:creationId xmlns:a16="http://schemas.microsoft.com/office/drawing/2014/main" id="{60AF7CE1-60C5-529A-40D0-B1E6D80D22F1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5325052"/>
              <a:gd name="adj2" fmla="val 16200000"/>
            </a:avLst>
          </a:prstGeom>
          <a:solidFill>
            <a:schemeClr val="bg1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08AD0E7-B375-C8BA-4624-21AA7DE9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1371941"/>
            <a:ext cx="11520000" cy="539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6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741D8-8405-45CF-190D-8BF40F66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0E74A138-BB78-17D6-5E2F-3C4C9B0DD9EE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9B0F080-8F87-9B9E-0F10-C3AC6E767281}"/>
              </a:ext>
            </a:extLst>
          </p:cNvPr>
          <p:cNvSpPr txBox="1"/>
          <p:nvPr/>
        </p:nvSpPr>
        <p:spPr>
          <a:xfrm>
            <a:off x="0" y="215605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83F19"/>
                </a:solidFill>
              </a:rPr>
              <a:t>2.2. Percentages of Qualitative Values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ABB22C9-2270-1ACE-8903-A1BA84822CC3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F094A733-0C87-9887-0317-4E961C030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1371941"/>
            <a:ext cx="11520000" cy="5392341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5755A95C-10B3-6C72-27C4-110E5D8180A2}"/>
              </a:ext>
            </a:extLst>
          </p:cNvPr>
          <p:cNvSpPr/>
          <p:nvPr/>
        </p:nvSpPr>
        <p:spPr>
          <a:xfrm>
            <a:off x="11756571" y="77187"/>
            <a:ext cx="360000" cy="360000"/>
          </a:xfrm>
          <a:prstGeom prst="pie">
            <a:avLst>
              <a:gd name="adj1" fmla="val 4046117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28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57FE8-B7D3-B19A-70F4-781DE1FE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0B08E7EE-D7B1-0F86-51A7-D2EB548F9150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528367A-A97C-FCB9-E83E-E36A8A4FA339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2.3. Correlations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523639D-0EE5-0FD5-3D9B-99FF9CC9260C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10038F0-5965-4DF4-36C3-B2DF7F3E3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376486"/>
              </p:ext>
            </p:extLst>
          </p:nvPr>
        </p:nvGraphicFramePr>
        <p:xfrm>
          <a:off x="1475573" y="1993500"/>
          <a:ext cx="9288854" cy="3711598"/>
        </p:xfrm>
        <a:graphic>
          <a:graphicData uri="http://schemas.openxmlformats.org/drawingml/2006/table">
            <a:tbl>
              <a:tblPr/>
              <a:tblGrid>
                <a:gridCol w="1803661">
                  <a:extLst>
                    <a:ext uri="{9D8B030D-6E8A-4147-A177-3AD203B41FA5}">
                      <a16:colId xmlns:a16="http://schemas.microsoft.com/office/drawing/2014/main" val="2403708986"/>
                    </a:ext>
                  </a:extLst>
                </a:gridCol>
                <a:gridCol w="5465093">
                  <a:extLst>
                    <a:ext uri="{9D8B030D-6E8A-4147-A177-3AD203B41FA5}">
                      <a16:colId xmlns:a16="http://schemas.microsoft.com/office/drawing/2014/main" val="3506202544"/>
                    </a:ext>
                  </a:extLst>
                </a:gridCol>
                <a:gridCol w="2020100">
                  <a:extLst>
                    <a:ext uri="{9D8B030D-6E8A-4147-A177-3AD203B41FA5}">
                      <a16:colId xmlns:a16="http://schemas.microsoft.com/office/drawing/2014/main" val="860631345"/>
                    </a:ext>
                  </a:extLst>
                </a:gridCol>
              </a:tblGrid>
              <a:tr h="15302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 b="1" dirty="0">
                          <a:solidFill>
                            <a:srgbClr val="E8EDDA"/>
                          </a:solidFill>
                          <a:effectLst/>
                        </a:rPr>
                        <a:t>Rank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 b="1" dirty="0" err="1">
                          <a:solidFill>
                            <a:srgbClr val="E8EDDA"/>
                          </a:solidFill>
                          <a:effectLst/>
                        </a:rPr>
                        <a:t>Column_Pair</a:t>
                      </a:r>
                      <a:endParaRPr lang="de-DE" sz="2000" b="1" dirty="0">
                        <a:solidFill>
                          <a:srgbClr val="E8EDDA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 b="1" dirty="0">
                          <a:solidFill>
                            <a:srgbClr val="E8EDDA"/>
                          </a:solidFill>
                          <a:effectLst/>
                        </a:rPr>
                        <a:t>absolute </a:t>
                      </a:r>
                      <a:r>
                        <a:rPr lang="de-DE" sz="2000" b="1" dirty="0" err="1">
                          <a:solidFill>
                            <a:srgbClr val="E8EDDA"/>
                          </a:solidFill>
                          <a:effectLst/>
                        </a:rPr>
                        <a:t>r_value</a:t>
                      </a:r>
                      <a:endParaRPr lang="de-DE" sz="2000" b="1" dirty="0">
                        <a:solidFill>
                          <a:srgbClr val="E8EDDA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529380"/>
                  </a:ext>
                </a:extLst>
              </a:tr>
              <a:tr h="814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1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2000">
                          <a:solidFill>
                            <a:srgbClr val="283F19"/>
                          </a:solidFill>
                          <a:effectLst/>
                        </a:rPr>
                        <a:t>base_fare_usd vs rooms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0.368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157422"/>
                  </a:ext>
                </a:extLst>
              </a:tr>
              <a:tr h="814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2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>
                          <a:solidFill>
                            <a:srgbClr val="283F19"/>
                          </a:solidFill>
                          <a:effectLst/>
                        </a:rPr>
                        <a:t>base_fare_usd vs nights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0.206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175464"/>
                  </a:ext>
                </a:extLst>
              </a:tr>
              <a:tr h="15302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3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checked_bags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vs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base_fare_usd</a:t>
                      </a:r>
                      <a:endParaRPr lang="de-DE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0.189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B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421812"/>
                  </a:ext>
                </a:extLst>
              </a:tr>
              <a:tr h="814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4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checked_bags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vs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rooms</a:t>
                      </a:r>
                      <a:endParaRPr lang="de-DE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0.096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07079"/>
                  </a:ext>
                </a:extLst>
              </a:tr>
              <a:tr h="814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5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checked_bags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vs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nights</a:t>
                      </a:r>
                      <a:endParaRPr lang="de-DE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0.068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02297"/>
                  </a:ext>
                </a:extLst>
              </a:tr>
              <a:tr h="814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6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2000" dirty="0" err="1">
                          <a:solidFill>
                            <a:srgbClr val="283F19"/>
                          </a:solidFill>
                          <a:effectLst/>
                        </a:rPr>
                        <a:t>page_clicks</a:t>
                      </a:r>
                      <a:r>
                        <a:rPr lang="it-IT" sz="2000" dirty="0">
                          <a:solidFill>
                            <a:srgbClr val="283F19"/>
                          </a:solidFill>
                          <a:effectLst/>
                        </a:rPr>
                        <a:t> vs </a:t>
                      </a:r>
                      <a:r>
                        <a:rPr lang="it-IT" sz="2000" dirty="0" err="1">
                          <a:solidFill>
                            <a:srgbClr val="283F19"/>
                          </a:solidFill>
                          <a:effectLst/>
                        </a:rPr>
                        <a:t>base_fare_usd</a:t>
                      </a:r>
                      <a:endParaRPr lang="it-IT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0.026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B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46776"/>
                  </a:ext>
                </a:extLst>
              </a:tr>
              <a:tr h="2245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7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solidFill>
                            <a:srgbClr val="283F19"/>
                          </a:solidFill>
                          <a:effectLst/>
                        </a:rPr>
                        <a:t>rooms vs </a:t>
                      </a:r>
                      <a:r>
                        <a:rPr lang="en-US" sz="2000" dirty="0" err="1">
                          <a:solidFill>
                            <a:srgbClr val="283F19"/>
                          </a:solidFill>
                          <a:effectLst/>
                        </a:rPr>
                        <a:t>hotel_price_per_room_night_usd</a:t>
                      </a:r>
                      <a:endParaRPr lang="en-US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0.016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070732"/>
                  </a:ext>
                </a:extLst>
              </a:tr>
              <a:tr h="15302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8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 err="1">
                          <a:solidFill>
                            <a:srgbClr val="283F19"/>
                          </a:solidFill>
                          <a:effectLst/>
                        </a:rPr>
                        <a:t>flight_discount_amount</a:t>
                      </a:r>
                      <a:r>
                        <a:rPr lang="en-US" sz="2000" dirty="0">
                          <a:solidFill>
                            <a:srgbClr val="283F19"/>
                          </a:solidFill>
                          <a:effectLst/>
                        </a:rPr>
                        <a:t> vs </a:t>
                      </a:r>
                      <a:r>
                        <a:rPr lang="en-US" sz="2000" dirty="0" err="1">
                          <a:solidFill>
                            <a:srgbClr val="283F19"/>
                          </a:solidFill>
                          <a:effectLst/>
                        </a:rPr>
                        <a:t>hotel_discount_amount</a:t>
                      </a:r>
                      <a:endParaRPr lang="en-US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0.015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637332"/>
                  </a:ext>
                </a:extLst>
              </a:tr>
              <a:tr h="15302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9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>
                          <a:solidFill>
                            <a:srgbClr val="283F19"/>
                          </a:solidFill>
                          <a:effectLst/>
                        </a:rPr>
                        <a:t>hotel_discount_amount vs checked_bags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0.015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A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7840"/>
                  </a:ext>
                </a:extLst>
              </a:tr>
              <a:tr h="814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de-DE" sz="2000">
                          <a:solidFill>
                            <a:srgbClr val="283F19"/>
                          </a:solidFill>
                          <a:effectLst/>
                        </a:rPr>
                        <a:t>10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page_clicks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vs</a:t>
                      </a: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283F19"/>
                          </a:solidFill>
                          <a:effectLst/>
                        </a:rPr>
                        <a:t>nights</a:t>
                      </a:r>
                      <a:endParaRPr lang="de-DE" sz="2000" dirty="0">
                        <a:solidFill>
                          <a:srgbClr val="283F19"/>
                        </a:solidFill>
                        <a:effectLst/>
                      </a:endParaRP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de-DE" sz="2000" dirty="0">
                          <a:solidFill>
                            <a:srgbClr val="283F19"/>
                          </a:solidFill>
                          <a:effectLst/>
                        </a:rPr>
                        <a:t>0.014</a:t>
                      </a:r>
                    </a:p>
                  </a:txBody>
                  <a:tcPr marL="24464" marR="24464" marT="16309" marB="1630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AC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313626"/>
                  </a:ext>
                </a:extLst>
              </a:tr>
            </a:tbl>
          </a:graphicData>
        </a:graphic>
      </p:graphicFrame>
      <p:sp>
        <p:nvSpPr>
          <p:cNvPr id="26" name="Teilkreis 25">
            <a:extLst>
              <a:ext uri="{FF2B5EF4-FFF2-40B4-BE49-F238E27FC236}">
                <a16:creationId xmlns:a16="http://schemas.microsoft.com/office/drawing/2014/main" id="{C42DFA20-8F8F-198A-9F5D-663983A69C18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2670849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254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553EE-311C-F2A7-9D27-9836BA13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26EEC094-AD11-A5B1-9A0A-ADD68FA5304C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DBEACC3-39E4-5FAC-241E-A6F761A32A3F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3.1. ML-Clustering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45AB7F6-5967-5C00-A3BF-76F08E30E6BA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3369E0DC-6008-EC49-2F89-1F2A62353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452" y="1415934"/>
            <a:ext cx="8091095" cy="5423811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C63B9F8D-8B34-9A0C-D148-FB79EAB6AF39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357968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50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6BF3B-46EE-BCBC-20F2-12EB285F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95D65A58-15D8-BB61-62B6-E49CCEF5E051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7E9646B-EA97-4358-67C7-C02A39B42C03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3.2. RFM Personas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3BA2554-D7E3-2C4D-B308-299C2FA394C1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Inhaltsplatzhalter 6">
            <a:extLst>
              <a:ext uri="{FF2B5EF4-FFF2-40B4-BE49-F238E27FC236}">
                <a16:creationId xmlns:a16="http://schemas.microsoft.com/office/drawing/2014/main" id="{94A2B8EF-EE54-CF1E-795F-6696F20CBB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5085227"/>
              </p:ext>
            </p:extLst>
          </p:nvPr>
        </p:nvGraphicFramePr>
        <p:xfrm>
          <a:off x="0" y="1799946"/>
          <a:ext cx="12191998" cy="3258108"/>
        </p:xfrm>
        <a:graphic>
          <a:graphicData uri="http://schemas.openxmlformats.org/drawingml/2006/table">
            <a:tbl>
              <a:tblPr/>
              <a:tblGrid>
                <a:gridCol w="2123854">
                  <a:extLst>
                    <a:ext uri="{9D8B030D-6E8A-4147-A177-3AD203B41FA5}">
                      <a16:colId xmlns:a16="http://schemas.microsoft.com/office/drawing/2014/main" val="1433523504"/>
                    </a:ext>
                  </a:extLst>
                </a:gridCol>
                <a:gridCol w="1379127">
                  <a:extLst>
                    <a:ext uri="{9D8B030D-6E8A-4147-A177-3AD203B41FA5}">
                      <a16:colId xmlns:a16="http://schemas.microsoft.com/office/drawing/2014/main" val="1605609402"/>
                    </a:ext>
                  </a:extLst>
                </a:gridCol>
                <a:gridCol w="1379127">
                  <a:extLst>
                    <a:ext uri="{9D8B030D-6E8A-4147-A177-3AD203B41FA5}">
                      <a16:colId xmlns:a16="http://schemas.microsoft.com/office/drawing/2014/main" val="2876746893"/>
                    </a:ext>
                  </a:extLst>
                </a:gridCol>
                <a:gridCol w="1379127">
                  <a:extLst>
                    <a:ext uri="{9D8B030D-6E8A-4147-A177-3AD203B41FA5}">
                      <a16:colId xmlns:a16="http://schemas.microsoft.com/office/drawing/2014/main" val="3616321638"/>
                    </a:ext>
                  </a:extLst>
                </a:gridCol>
                <a:gridCol w="5930763">
                  <a:extLst>
                    <a:ext uri="{9D8B030D-6E8A-4147-A177-3AD203B41FA5}">
                      <a16:colId xmlns:a16="http://schemas.microsoft.com/office/drawing/2014/main" val="2815458944"/>
                    </a:ext>
                  </a:extLst>
                </a:gridCol>
              </a:tblGrid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Persona (Code </a:t>
                      </a:r>
                      <a:r>
                        <a:rPr lang="de-DE" sz="1200" b="1" dirty="0" err="1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Prefix</a:t>
                      </a:r>
                      <a:r>
                        <a:rPr lang="de-DE" sz="12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 dirty="0" err="1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Recency</a:t>
                      </a:r>
                      <a:r>
                        <a:rPr lang="de-DE" sz="12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 (R)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 dirty="0" err="1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Frequency</a:t>
                      </a:r>
                      <a:r>
                        <a:rPr lang="de-DE" sz="12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 (F)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 dirty="0" err="1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Monetary</a:t>
                      </a:r>
                      <a:r>
                        <a:rPr lang="de-DE" sz="12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 (M)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Simple Description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308310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 True Champions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Highest value, most recent, and most frequent buyers.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596819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B Premium High-Value Recents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3 (Medium/High)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spenders who bought recently, showing strong current value.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005472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B Premium Loyal Recent Buyers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</a:t>
                      </a: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3 (Medium/High)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Most frequent buyers who bought recently, showing strong loyalty.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84442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B Premium Loyal Big Spenders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3 (Medium/High)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</a:t>
                      </a: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 (5)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Highest frequency and spend, but Recency is starting to slip (need re-engagement).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41503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C Champion Contestants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(4)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(4)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(4)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Excellent performers across all metrics, just shy of the "Premium" tier.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77736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C High-Value Recents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</a:t>
                      </a:r>
                      <a:r>
                        <a:rPr lang="de-DE" sz="12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</a:t>
                      </a: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spenders who made a recent purchase.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647834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C Loyal Recent Buyers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frequency customers who made a recent purchase.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979947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C Loyal Big Spenders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</a:t>
                      </a:r>
                      <a:r>
                        <a:rPr lang="de-DE" sz="12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Perfect</a:t>
                      </a:r>
                      <a:r>
                        <a:rPr lang="de-DE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frequency customers who also spend a lot.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64360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 New &amp; Active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Newest customers—R is high, but F &amp; M haven't had time to grow yet.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67495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 Big Spenders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Defined solely by high total spending (Monetary value).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88945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 Frequent Visitors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&gt;= 4 (High/Perfect)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Any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Defined solely by high purchase frequency.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21179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E Potential Re-Actives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 2 (Medium/High)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 2 (Medium/High)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&gt; 2 (Medium/High)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Scores are not the worst (at least one 3), but they need a prompt to return to higher tiers.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363738"/>
                  </a:ext>
                </a:extLst>
              </a:tr>
              <a:tr h="23272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F Churn Risk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&lt;= 2 (Low)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&lt;= 2 (Low)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2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&lt;= 2 (Low)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Lowest scores across the board. The most likely to stop buying.</a:t>
                      </a:r>
                    </a:p>
                  </a:txBody>
                  <a:tcPr marL="11922" marR="11922" marT="7948" marB="794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835903"/>
                  </a:ext>
                </a:extLst>
              </a:tr>
            </a:tbl>
          </a:graphicData>
        </a:graphic>
      </p:graphicFrame>
      <p:sp>
        <p:nvSpPr>
          <p:cNvPr id="26" name="Teilkreis 25">
            <a:extLst>
              <a:ext uri="{FF2B5EF4-FFF2-40B4-BE49-F238E27FC236}">
                <a16:creationId xmlns:a16="http://schemas.microsoft.com/office/drawing/2014/main" id="{C9912DD4-BFB6-3909-B4C0-22673DB081A7}"/>
              </a:ext>
            </a:extLst>
          </p:cNvPr>
          <p:cNvSpPr/>
          <p:nvPr/>
        </p:nvSpPr>
        <p:spPr>
          <a:xfrm>
            <a:off x="11756571" y="72623"/>
            <a:ext cx="360000" cy="360000"/>
          </a:xfrm>
          <a:prstGeom prst="pie">
            <a:avLst>
              <a:gd name="adj1" fmla="val 21598519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03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E11F5-4ED8-B297-F341-7BD18392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B0227528-686E-3EA6-4241-BD86951EBAA7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5D85EDC-F3BA-4E59-1502-48F7EA944C84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3.3. Traveler Personas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7DEE376-E172-443A-614B-6090C9D88365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Inhaltsplatzhalter 9">
            <a:extLst>
              <a:ext uri="{FF2B5EF4-FFF2-40B4-BE49-F238E27FC236}">
                <a16:creationId xmlns:a16="http://schemas.microsoft.com/office/drawing/2014/main" id="{648A6CC0-08F7-6DCF-A9EA-5AA669256C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374120"/>
              </p:ext>
            </p:extLst>
          </p:nvPr>
        </p:nvGraphicFramePr>
        <p:xfrm>
          <a:off x="960268" y="1343818"/>
          <a:ext cx="10271464" cy="5157920"/>
        </p:xfrm>
        <a:graphic>
          <a:graphicData uri="http://schemas.openxmlformats.org/drawingml/2006/table">
            <a:tbl>
              <a:tblPr/>
              <a:tblGrid>
                <a:gridCol w="3202242">
                  <a:extLst>
                    <a:ext uri="{9D8B030D-6E8A-4147-A177-3AD203B41FA5}">
                      <a16:colId xmlns:a16="http://schemas.microsoft.com/office/drawing/2014/main" val="1700747602"/>
                    </a:ext>
                  </a:extLst>
                </a:gridCol>
                <a:gridCol w="7069222">
                  <a:extLst>
                    <a:ext uri="{9D8B030D-6E8A-4147-A177-3AD203B41FA5}">
                      <a16:colId xmlns:a16="http://schemas.microsoft.com/office/drawing/2014/main" val="3202929329"/>
                    </a:ext>
                  </a:extLst>
                </a:gridCol>
              </a:tblGrid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Customer Persona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Key </a:t>
                      </a:r>
                      <a:r>
                        <a:rPr lang="de-DE" sz="1300" b="1" dirty="0" err="1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Defining</a:t>
                      </a:r>
                      <a:r>
                        <a:rPr lang="de-DE" sz="13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de-DE" sz="1300" b="1" dirty="0" err="1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Condition</a:t>
                      </a:r>
                      <a:r>
                        <a:rPr lang="de-DE" sz="1300" b="1" dirty="0">
                          <a:solidFill>
                            <a:srgbClr val="E8EDDA"/>
                          </a:solidFill>
                          <a:effectLst/>
                          <a:latin typeface="Google Sans Text"/>
                        </a:rPr>
                        <a:t>(s)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16026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Family </a:t>
                      </a:r>
                      <a:r>
                        <a:rPr lang="de-DE" sz="13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Vacationer</a:t>
                      </a:r>
                      <a:endParaRPr lang="de-DE" sz="1300" b="0" dirty="0">
                        <a:solidFill>
                          <a:srgbClr val="283F19"/>
                        </a:solidFill>
                        <a:effectLst/>
                        <a:latin typeface="Google Sans Text"/>
                      </a:endParaRP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Has Children AND High Rooms Taken AND High Seats Booked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195534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Leisure Planner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Time to Flight AND High Nights Stayed AND High Rooms Taken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02435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Young Traveler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Age &lt; 30 AND Frequent Traveler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034509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Established</a:t>
                      </a:r>
                      <a:r>
                        <a:rPr lang="de-DE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 Professional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Age 35 to 63 AND High Flight Spending AND Low Nights Stayed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853195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Value Shopper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Page Clicks AND Rare Traveler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932561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Demanding</a:t>
                      </a:r>
                      <a:r>
                        <a:rPr lang="de-DE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 Customer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Checked Bags AND High Page Clicks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99828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Discount-Skeptic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Low Flight Discount Taken AND Low Hotel Discount Taken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06619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Business Traveler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Frequent Traveler AND Low Nights Stayed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329436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Last-Minute Voyager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Low Time to Flight AND Low Return Flight Booked Percentage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785936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Bargain Hunter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Flight Discount Taken AND High Hotel Discount Taken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057050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Domestic Driver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Percentage of Domestic Flights AND High Percentage of Hotels w/o Flights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451044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Driver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Percentage of Hotels w/o Flights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603683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Domestic Voyager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Percentage of Domestic Flights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646679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Globetrotter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Low Percentage of Domestic Flights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44490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Instant-Buyer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Low Page </a:t>
                      </a:r>
                      <a:r>
                        <a:rPr lang="de-DE" sz="1300" b="0" dirty="0" err="1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Clicks</a:t>
                      </a:r>
                      <a:endParaRPr lang="de-DE" sz="1300" b="0" dirty="0">
                        <a:solidFill>
                          <a:srgbClr val="283F19"/>
                        </a:solidFill>
                        <a:effectLst/>
                        <a:latin typeface="Google Sans Text"/>
                      </a:endParaRP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687625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Private Bed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High Percentage of Flights w/o Hotels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464537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Frequent Leisure Traveler (Fallback)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Frequent Traveler (if no other rule applies)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385349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Rare Traveler (Fallback)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Rare Traveler (if no other rule applies)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45977"/>
                  </a:ext>
                </a:extLst>
              </a:tr>
              <a:tr h="25789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DE" sz="1300" b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Others (Fallback)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b="0" dirty="0">
                          <a:solidFill>
                            <a:srgbClr val="283F19"/>
                          </a:solidFill>
                          <a:effectLst/>
                          <a:latin typeface="Google Sans Text"/>
                        </a:rPr>
                        <a:t>None of the above rules apply</a:t>
                      </a:r>
                    </a:p>
                  </a:txBody>
                  <a:tcPr marL="15394" marR="15394" marT="10263" marB="1026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479526"/>
                  </a:ext>
                </a:extLst>
              </a:tr>
            </a:tbl>
          </a:graphicData>
        </a:graphic>
      </p:graphicFrame>
      <p:sp>
        <p:nvSpPr>
          <p:cNvPr id="26" name="Teilkreis 25">
            <a:extLst>
              <a:ext uri="{FF2B5EF4-FFF2-40B4-BE49-F238E27FC236}">
                <a16:creationId xmlns:a16="http://schemas.microsoft.com/office/drawing/2014/main" id="{BA94869D-1ABC-002A-C81B-CDF5A4890FC0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20242457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40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8CEF7-27DF-BDC4-2AB4-236DFF34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58DB8576-8CFD-4EDF-D335-2FE1D50F22F6}"/>
              </a:ext>
            </a:extLst>
          </p:cNvPr>
          <p:cNvSpPr/>
          <p:nvPr/>
        </p:nvSpPr>
        <p:spPr>
          <a:xfrm>
            <a:off x="0" y="1152902"/>
            <a:ext cx="1224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D3BF2B-A8D3-89AA-5547-CF8002879D6E}"/>
              </a:ext>
            </a:extLst>
          </p:cNvPr>
          <p:cNvSpPr txBox="1"/>
          <p:nvPr/>
        </p:nvSpPr>
        <p:spPr>
          <a:xfrm>
            <a:off x="569167" y="215605"/>
            <a:ext cx="1143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3.4. Customer Personas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8D9704E-00A9-F439-AA22-DBF71D699D0F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9690B947-9FED-DC32-8CF6-FBD4DCD40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3160"/>
            <a:ext cx="12179007" cy="3863029"/>
          </a:xfrm>
          <a:prstGeom prst="rect">
            <a:avLst/>
          </a:prstGeom>
        </p:spPr>
      </p:pic>
      <p:sp>
        <p:nvSpPr>
          <p:cNvPr id="26" name="Teilkreis 25">
            <a:extLst>
              <a:ext uri="{FF2B5EF4-FFF2-40B4-BE49-F238E27FC236}">
                <a16:creationId xmlns:a16="http://schemas.microsoft.com/office/drawing/2014/main" id="{0E054549-AA52-D558-5B4A-167CC8A3A313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8900610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86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831C9-99B8-C780-AFF2-5C2015AA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3D961CFD-E68F-3ABF-0C13-7E9B5B0BC615}"/>
              </a:ext>
            </a:extLst>
          </p:cNvPr>
          <p:cNvSpPr/>
          <p:nvPr/>
        </p:nvSpPr>
        <p:spPr>
          <a:xfrm>
            <a:off x="0" y="1152903"/>
            <a:ext cx="1080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ussdiagramm: Daten 3">
            <a:extLst>
              <a:ext uri="{FF2B5EF4-FFF2-40B4-BE49-F238E27FC236}">
                <a16:creationId xmlns:a16="http://schemas.microsoft.com/office/drawing/2014/main" id="{BEC6D23D-B93D-44CE-83B1-774D4C54ADFA}"/>
              </a:ext>
            </a:extLst>
          </p:cNvPr>
          <p:cNvSpPr/>
          <p:nvPr/>
        </p:nvSpPr>
        <p:spPr>
          <a:xfrm>
            <a:off x="0" y="6822000"/>
            <a:ext cx="8679713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747BD0A-AE2A-7E23-B42F-F890F3A66396}"/>
              </a:ext>
            </a:extLst>
          </p:cNvPr>
          <p:cNvSpPr txBox="1"/>
          <p:nvPr/>
        </p:nvSpPr>
        <p:spPr>
          <a:xfrm>
            <a:off x="569167" y="215605"/>
            <a:ext cx="10428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3.5. Perks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51E925E-44CF-463B-AEEA-B01D942CED08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E8EDDA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3BD3246-6535-6E95-021E-274107A87860}"/>
              </a:ext>
            </a:extLst>
          </p:cNvPr>
          <p:cNvSpPr txBox="1"/>
          <p:nvPr/>
        </p:nvSpPr>
        <p:spPr>
          <a:xfrm>
            <a:off x="569167" y="1361184"/>
            <a:ext cx="867971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283F19"/>
                </a:solidFill>
              </a:rPr>
              <a:t>Bargain</a:t>
            </a:r>
            <a:r>
              <a:rPr lang="de-DE" sz="2000" dirty="0">
                <a:solidFill>
                  <a:srgbClr val="283F19"/>
                </a:solidFill>
              </a:rPr>
              <a:t> Hunter: Flexible Booking Discount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Business Traveler: </a:t>
            </a:r>
            <a:r>
              <a:rPr lang="de-DE" sz="2000" dirty="0" err="1">
                <a:solidFill>
                  <a:srgbClr val="283F19"/>
                </a:solidFill>
              </a:rPr>
              <a:t>Complimentary</a:t>
            </a:r>
            <a:r>
              <a:rPr lang="de-DE" sz="2000" dirty="0">
                <a:solidFill>
                  <a:srgbClr val="283F19"/>
                </a:solidFill>
              </a:rPr>
              <a:t>/</a:t>
            </a:r>
            <a:r>
              <a:rPr lang="de-DE" sz="2000" dirty="0" err="1">
                <a:solidFill>
                  <a:srgbClr val="283F19"/>
                </a:solidFill>
              </a:rPr>
              <a:t>Discounted</a:t>
            </a:r>
            <a:r>
              <a:rPr lang="de-DE" sz="2000" dirty="0">
                <a:solidFill>
                  <a:srgbClr val="283F19"/>
                </a:solidFill>
              </a:rPr>
              <a:t> Class Upgrade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283F19"/>
                </a:solidFill>
              </a:rPr>
              <a:t>Demanding</a:t>
            </a:r>
            <a:r>
              <a:rPr lang="de-DE" sz="2000" dirty="0">
                <a:solidFill>
                  <a:srgbClr val="283F19"/>
                </a:solidFill>
              </a:rPr>
              <a:t> Customer: Premium Service Add-</a:t>
            </a:r>
            <a:r>
              <a:rPr lang="de-DE" sz="2000" dirty="0" err="1">
                <a:solidFill>
                  <a:srgbClr val="283F19"/>
                </a:solidFill>
              </a:rPr>
              <a:t>ons</a:t>
            </a:r>
            <a:r>
              <a:rPr lang="de-DE" sz="2000" dirty="0">
                <a:solidFill>
                  <a:srgbClr val="283F19"/>
                </a:solidFill>
              </a:rPr>
              <a:t> 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Discount-</a:t>
            </a:r>
            <a:r>
              <a:rPr lang="de-DE" sz="2000" dirty="0" err="1">
                <a:solidFill>
                  <a:srgbClr val="283F19"/>
                </a:solidFill>
              </a:rPr>
              <a:t>Skeptic</a:t>
            </a:r>
            <a:r>
              <a:rPr lang="de-DE" sz="2000" dirty="0">
                <a:solidFill>
                  <a:srgbClr val="283F19"/>
                </a:solidFill>
              </a:rPr>
              <a:t>: </a:t>
            </a:r>
            <a:r>
              <a:rPr lang="de-DE" sz="2000" dirty="0" err="1">
                <a:solidFill>
                  <a:srgbClr val="283F19"/>
                </a:solidFill>
              </a:rPr>
              <a:t>automatic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Cashback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Rewards</a:t>
            </a:r>
            <a:endParaRPr lang="de-DE" sz="2000" dirty="0">
              <a:solidFill>
                <a:srgbClr val="283F1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283F19"/>
                </a:solidFill>
              </a:rPr>
              <a:t>Domestic</a:t>
            </a:r>
            <a:r>
              <a:rPr lang="de-DE" sz="2000" dirty="0">
                <a:solidFill>
                  <a:srgbClr val="283F19"/>
                </a:solidFill>
              </a:rPr>
              <a:t> Voyager: Ground Transport Discount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283F19"/>
                </a:solidFill>
              </a:rPr>
              <a:t>Domestic</a:t>
            </a:r>
            <a:r>
              <a:rPr lang="de-DE" sz="2000" dirty="0">
                <a:solidFill>
                  <a:srgbClr val="283F19"/>
                </a:solidFill>
              </a:rPr>
              <a:t> Driver: </a:t>
            </a:r>
            <a:r>
              <a:rPr lang="de-DE" sz="2000" dirty="0" err="1">
                <a:solidFill>
                  <a:srgbClr val="283F19"/>
                </a:solidFill>
              </a:rPr>
              <a:t>flight</a:t>
            </a:r>
            <a:r>
              <a:rPr lang="de-DE" sz="2000" dirty="0">
                <a:solidFill>
                  <a:srgbClr val="283F19"/>
                </a:solidFill>
              </a:rPr>
              <a:t> + Ground Transport Discount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Driver: </a:t>
            </a:r>
            <a:r>
              <a:rPr lang="de-DE" sz="2000" dirty="0" err="1">
                <a:solidFill>
                  <a:srgbClr val="283F19"/>
                </a:solidFill>
              </a:rPr>
              <a:t>flight</a:t>
            </a:r>
            <a:r>
              <a:rPr lang="de-DE" sz="2000" dirty="0">
                <a:solidFill>
                  <a:srgbClr val="283F19"/>
                </a:solidFill>
              </a:rPr>
              <a:t> + Ground Transport Discount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283F19"/>
                </a:solidFill>
              </a:rPr>
              <a:t>Established</a:t>
            </a:r>
            <a:r>
              <a:rPr lang="de-DE" sz="2000" dirty="0">
                <a:solidFill>
                  <a:srgbClr val="283F19"/>
                </a:solidFill>
              </a:rPr>
              <a:t> Professional: Hotel Experience Vouchers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Family </a:t>
            </a:r>
            <a:r>
              <a:rPr lang="de-DE" sz="2000" dirty="0" err="1">
                <a:solidFill>
                  <a:srgbClr val="283F19"/>
                </a:solidFill>
              </a:rPr>
              <a:t>Vacationer</a:t>
            </a:r>
            <a:r>
              <a:rPr lang="de-DE" sz="2000" dirty="0">
                <a:solidFill>
                  <a:srgbClr val="283F19"/>
                </a:solidFill>
              </a:rPr>
              <a:t>: Family Rate </a:t>
            </a:r>
            <a:r>
              <a:rPr lang="de-DE" sz="2000" dirty="0" err="1">
                <a:solidFill>
                  <a:srgbClr val="283F19"/>
                </a:solidFill>
              </a:rPr>
              <a:t>Perk</a:t>
            </a:r>
            <a:endParaRPr lang="de-DE" sz="2000" dirty="0">
              <a:solidFill>
                <a:srgbClr val="283F1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Globetrotter: Bonus </a:t>
            </a:r>
            <a:r>
              <a:rPr lang="de-DE" sz="2000" dirty="0" err="1">
                <a:solidFill>
                  <a:srgbClr val="283F19"/>
                </a:solidFill>
              </a:rPr>
              <a:t>Loyalty</a:t>
            </a:r>
            <a:r>
              <a:rPr lang="de-DE" sz="2000" dirty="0">
                <a:solidFill>
                  <a:srgbClr val="283F19"/>
                </a:solidFill>
              </a:rPr>
              <a:t> Points/Miles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Instant-Buyer: Instant-Booking </a:t>
            </a:r>
            <a:r>
              <a:rPr lang="de-DE" sz="2000" dirty="0" err="1">
                <a:solidFill>
                  <a:srgbClr val="283F19"/>
                </a:solidFill>
              </a:rPr>
              <a:t>Rewards</a:t>
            </a:r>
            <a:endParaRPr lang="de-DE" sz="2000" dirty="0">
              <a:solidFill>
                <a:srgbClr val="283F1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Last-Minute Voyager: Flash Deals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Leisure Planner: </a:t>
            </a:r>
            <a:r>
              <a:rPr lang="de-DE" sz="2000" dirty="0" err="1">
                <a:solidFill>
                  <a:srgbClr val="283F19"/>
                </a:solidFill>
              </a:rPr>
              <a:t>Accumulative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Loyalty</a:t>
            </a:r>
            <a:r>
              <a:rPr lang="de-DE" sz="2000" dirty="0">
                <a:solidFill>
                  <a:srgbClr val="283F19"/>
                </a:solidFill>
              </a:rPr>
              <a:t> Discount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Private </a:t>
            </a:r>
            <a:r>
              <a:rPr lang="de-DE" sz="2000" dirty="0" err="1">
                <a:solidFill>
                  <a:srgbClr val="283F19"/>
                </a:solidFill>
              </a:rPr>
              <a:t>Bed</a:t>
            </a:r>
            <a:r>
              <a:rPr lang="de-DE" sz="2000" dirty="0">
                <a:solidFill>
                  <a:srgbClr val="283F19"/>
                </a:solidFill>
              </a:rPr>
              <a:t>: </a:t>
            </a:r>
            <a:r>
              <a:rPr lang="de-DE" sz="2000" dirty="0" err="1">
                <a:solidFill>
                  <a:srgbClr val="283F19"/>
                </a:solidFill>
              </a:rPr>
              <a:t>flight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discount</a:t>
            </a:r>
            <a:r>
              <a:rPr lang="de-DE" sz="2000" dirty="0">
                <a:solidFill>
                  <a:srgbClr val="283F19"/>
                </a:solidFill>
              </a:rPr>
              <a:t>/Premium Service Add-</a:t>
            </a:r>
            <a:r>
              <a:rPr lang="de-DE" sz="2000" dirty="0" err="1">
                <a:solidFill>
                  <a:srgbClr val="283F19"/>
                </a:solidFill>
              </a:rPr>
              <a:t>ons</a:t>
            </a:r>
            <a:r>
              <a:rPr lang="de-DE" sz="2000" dirty="0">
                <a:solidFill>
                  <a:srgbClr val="283F19"/>
                </a:solidFill>
              </a:rPr>
              <a:t> 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Value Shopper: </a:t>
            </a:r>
            <a:r>
              <a:rPr lang="de-DE" sz="2000" dirty="0" err="1">
                <a:solidFill>
                  <a:srgbClr val="283F19"/>
                </a:solidFill>
              </a:rPr>
              <a:t>Accumulative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Loyalty</a:t>
            </a:r>
            <a:r>
              <a:rPr lang="de-DE" sz="2000" dirty="0">
                <a:solidFill>
                  <a:srgbClr val="283F19"/>
                </a:solidFill>
              </a:rPr>
              <a:t> Discount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283F19"/>
                </a:solidFill>
              </a:rPr>
              <a:t>Young Traveler: Destination Experience </a:t>
            </a:r>
            <a:r>
              <a:rPr lang="de-DE" sz="2000" dirty="0" err="1">
                <a:solidFill>
                  <a:srgbClr val="283F19"/>
                </a:solidFill>
              </a:rPr>
              <a:t>Perks</a:t>
            </a:r>
            <a:endParaRPr lang="de-DE" sz="2000" dirty="0">
              <a:solidFill>
                <a:srgbClr val="283F19"/>
              </a:solidFill>
            </a:endParaRPr>
          </a:p>
          <a:p>
            <a:r>
              <a:rPr lang="de-DE" sz="2000" dirty="0">
                <a:solidFill>
                  <a:srgbClr val="283F19"/>
                </a:solidFill>
              </a:rPr>
              <a:t>*</a:t>
            </a:r>
            <a:r>
              <a:rPr lang="de-DE" sz="2000" dirty="0" err="1">
                <a:solidFill>
                  <a:srgbClr val="283F19"/>
                </a:solidFill>
              </a:rPr>
              <a:t>Complimentary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checked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baggage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or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priority</a:t>
            </a:r>
            <a:r>
              <a:rPr lang="de-DE" sz="2000" dirty="0">
                <a:solidFill>
                  <a:srgbClr val="283F19"/>
                </a:solidFill>
              </a:rPr>
              <a:t> </a:t>
            </a:r>
            <a:r>
              <a:rPr lang="de-DE" sz="2000" dirty="0" err="1">
                <a:solidFill>
                  <a:srgbClr val="283F19"/>
                </a:solidFill>
              </a:rPr>
              <a:t>check-in</a:t>
            </a:r>
            <a:r>
              <a:rPr lang="de-DE" sz="2000" dirty="0">
                <a:solidFill>
                  <a:srgbClr val="283F19"/>
                </a:solidFill>
              </a:rPr>
              <a:t>/</a:t>
            </a:r>
            <a:r>
              <a:rPr lang="de-DE" sz="2000" dirty="0" err="1">
                <a:solidFill>
                  <a:srgbClr val="283F19"/>
                </a:solidFill>
              </a:rPr>
              <a:t>boarding</a:t>
            </a:r>
            <a:endParaRPr lang="de-DE" sz="2000" dirty="0">
              <a:solidFill>
                <a:srgbClr val="283F19"/>
              </a:solidFill>
            </a:endParaRPr>
          </a:p>
        </p:txBody>
      </p:sp>
      <p:sp>
        <p:nvSpPr>
          <p:cNvPr id="5" name="Teilkreis 4">
            <a:extLst>
              <a:ext uri="{FF2B5EF4-FFF2-40B4-BE49-F238E27FC236}">
                <a16:creationId xmlns:a16="http://schemas.microsoft.com/office/drawing/2014/main" id="{55B16795-6067-6B1D-19C3-355BA9589E69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pie">
            <a:avLst>
              <a:gd name="adj1" fmla="val 17550219"/>
              <a:gd name="adj2" fmla="val 16200000"/>
            </a:avLst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093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20E79-564F-BE48-6116-3BA02B07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F1F950F1-5BE9-F7DB-E156-54ED6BB85A36}"/>
              </a:ext>
            </a:extLst>
          </p:cNvPr>
          <p:cNvSpPr/>
          <p:nvPr/>
        </p:nvSpPr>
        <p:spPr>
          <a:xfrm>
            <a:off x="0" y="1152903"/>
            <a:ext cx="11520000" cy="72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ussdiagramm: Daten 3">
            <a:extLst>
              <a:ext uri="{FF2B5EF4-FFF2-40B4-BE49-F238E27FC236}">
                <a16:creationId xmlns:a16="http://schemas.microsoft.com/office/drawing/2014/main" id="{77FDDCC6-8906-66ED-E524-C5570AFA7B80}"/>
              </a:ext>
            </a:extLst>
          </p:cNvPr>
          <p:cNvSpPr/>
          <p:nvPr/>
        </p:nvSpPr>
        <p:spPr>
          <a:xfrm>
            <a:off x="0" y="6822000"/>
            <a:ext cx="8679713" cy="36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714 w 10000"/>
              <a:gd name="connsiteY1" fmla="*/ 49 h 10000"/>
              <a:gd name="connsiteX2" fmla="*/ 10000 w 10000"/>
              <a:gd name="connsiteY2" fmla="*/ 0 h 10000"/>
              <a:gd name="connsiteX3" fmla="*/ 9265 w 10000"/>
              <a:gd name="connsiteY3" fmla="*/ 9951 h 10000"/>
              <a:gd name="connsiteX4" fmla="*/ 0 w 10000"/>
              <a:gd name="connsiteY4" fmla="*/ 10000 h 10000"/>
              <a:gd name="connsiteX0" fmla="*/ 0 w 10000"/>
              <a:gd name="connsiteY0" fmla="*/ 10000 h 10097"/>
              <a:gd name="connsiteX1" fmla="*/ 714 w 10000"/>
              <a:gd name="connsiteY1" fmla="*/ 49 h 10097"/>
              <a:gd name="connsiteX2" fmla="*/ 10000 w 10000"/>
              <a:gd name="connsiteY2" fmla="*/ 0 h 10097"/>
              <a:gd name="connsiteX3" fmla="*/ 9265 w 10000"/>
              <a:gd name="connsiteY3" fmla="*/ 10097 h 10097"/>
              <a:gd name="connsiteX4" fmla="*/ 0 w 10000"/>
              <a:gd name="connsiteY4" fmla="*/ 10000 h 10097"/>
              <a:gd name="connsiteX0" fmla="*/ 0 w 10000"/>
              <a:gd name="connsiteY0" fmla="*/ 10049 h 10146"/>
              <a:gd name="connsiteX1" fmla="*/ 735 w 10000"/>
              <a:gd name="connsiteY1" fmla="*/ 0 h 10146"/>
              <a:gd name="connsiteX2" fmla="*/ 10000 w 10000"/>
              <a:gd name="connsiteY2" fmla="*/ 49 h 10146"/>
              <a:gd name="connsiteX3" fmla="*/ 9265 w 10000"/>
              <a:gd name="connsiteY3" fmla="*/ 10146 h 10146"/>
              <a:gd name="connsiteX4" fmla="*/ 0 w 10000"/>
              <a:gd name="connsiteY4" fmla="*/ 10049 h 10146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275 w 10000"/>
              <a:gd name="connsiteY3" fmla="*/ 10000 h 10049"/>
              <a:gd name="connsiteX4" fmla="*/ 0 w 10000"/>
              <a:gd name="connsiteY4" fmla="*/ 10049 h 10049"/>
              <a:gd name="connsiteX0" fmla="*/ 0 w 10000"/>
              <a:gd name="connsiteY0" fmla="*/ 10049 h 10049"/>
              <a:gd name="connsiteX1" fmla="*/ 735 w 10000"/>
              <a:gd name="connsiteY1" fmla="*/ 0 h 10049"/>
              <a:gd name="connsiteX2" fmla="*/ 10000 w 10000"/>
              <a:gd name="connsiteY2" fmla="*/ 49 h 10049"/>
              <a:gd name="connsiteX3" fmla="*/ 9344 w 10000"/>
              <a:gd name="connsiteY3" fmla="*/ 10049 h 10049"/>
              <a:gd name="connsiteX4" fmla="*/ 0 w 10000"/>
              <a:gd name="connsiteY4" fmla="*/ 10049 h 10049"/>
              <a:gd name="connsiteX0" fmla="*/ 0 w 10000"/>
              <a:gd name="connsiteY0" fmla="*/ 10000 h 10000"/>
              <a:gd name="connsiteX1" fmla="*/ 666 w 10000"/>
              <a:gd name="connsiteY1" fmla="*/ 0 h 10000"/>
              <a:gd name="connsiteX2" fmla="*/ 10000 w 10000"/>
              <a:gd name="connsiteY2" fmla="*/ 0 h 10000"/>
              <a:gd name="connsiteX3" fmla="*/ 9344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238" y="6683"/>
                  <a:pt x="418" y="3366"/>
                  <a:pt x="666" y="0"/>
                </a:cubicBezTo>
                <a:lnTo>
                  <a:pt x="10000" y="0"/>
                </a:lnTo>
                <a:cubicBezTo>
                  <a:pt x="9758" y="3317"/>
                  <a:pt x="9586" y="6683"/>
                  <a:pt x="9344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283F19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6888941-FD2E-9882-CF8A-32EBCC570DBE}"/>
              </a:ext>
            </a:extLst>
          </p:cNvPr>
          <p:cNvSpPr txBox="1"/>
          <p:nvPr/>
        </p:nvSpPr>
        <p:spPr>
          <a:xfrm>
            <a:off x="569167" y="215605"/>
            <a:ext cx="10922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83F19"/>
                </a:solidFill>
              </a:rPr>
              <a:t>4. Recommended next Steps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D6B21E5-BDA3-60DB-943B-C776AB7DC039}"/>
              </a:ext>
            </a:extLst>
          </p:cNvPr>
          <p:cNvSpPr/>
          <p:nvPr/>
        </p:nvSpPr>
        <p:spPr>
          <a:xfrm>
            <a:off x="11756571" y="74644"/>
            <a:ext cx="360000" cy="360000"/>
          </a:xfrm>
          <a:prstGeom prst="ellipse">
            <a:avLst/>
          </a:prstGeom>
          <a:solidFill>
            <a:srgbClr val="283F19"/>
          </a:solidFill>
          <a:ln>
            <a:solidFill>
              <a:srgbClr val="283F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C299ADF-F360-BCA6-5296-2500B14DE6A0}"/>
              </a:ext>
            </a:extLst>
          </p:cNvPr>
          <p:cNvSpPr txBox="1"/>
          <p:nvPr/>
        </p:nvSpPr>
        <p:spPr>
          <a:xfrm>
            <a:off x="569167" y="1472625"/>
            <a:ext cx="86797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0" dirty="0">
                <a:solidFill>
                  <a:srgbClr val="283F19"/>
                </a:solidFill>
              </a:rPr>
              <a:t>Gather data on the customer response to the perks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0" dirty="0">
                <a:solidFill>
                  <a:srgbClr val="283F19"/>
                </a:solidFill>
              </a:rPr>
              <a:t>A/B testing with different perks connected with different fitting personas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0" dirty="0">
                <a:solidFill>
                  <a:srgbClr val="283F19"/>
                </a:solidFill>
              </a:rPr>
              <a:t>Try different perks on customers that did not respond to the first perk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0" dirty="0">
                <a:solidFill>
                  <a:srgbClr val="283F19"/>
                </a:solidFill>
              </a:rPr>
              <a:t>Check for correlation between perks and ML-clusters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noProof="0" dirty="0">
                <a:solidFill>
                  <a:srgbClr val="283F19"/>
                </a:solidFill>
              </a:rPr>
              <a:t>Implement supervised classification ML-models</a:t>
            </a:r>
          </a:p>
        </p:txBody>
      </p:sp>
    </p:spTree>
    <p:extLst>
      <p:ext uri="{BB962C8B-B14F-4D97-AF65-F5344CB8AC3E}">
        <p14:creationId xmlns:p14="http://schemas.microsoft.com/office/powerpoint/2010/main" val="2393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Breitbild</PresentationFormat>
  <Paragraphs>215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Google Sans Text</vt:lpstr>
      <vt:lpstr>Symbol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Dupper</dc:creator>
  <cp:lastModifiedBy>Florian Dupper</cp:lastModifiedBy>
  <cp:revision>3</cp:revision>
  <dcterms:created xsi:type="dcterms:W3CDTF">2026-01-19T20:35:56Z</dcterms:created>
  <dcterms:modified xsi:type="dcterms:W3CDTF">2026-01-20T13:51:28Z</dcterms:modified>
</cp:coreProperties>
</file>